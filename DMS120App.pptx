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4" r:id="rId2"/>
  </p:sldMasterIdLst>
  <p:notesMasterIdLst>
    <p:notesMasterId r:id="rId74"/>
  </p:notesMasterIdLst>
  <p:sldIdLst>
    <p:sldId id="332" r:id="rId3"/>
    <p:sldId id="263" r:id="rId4"/>
    <p:sldId id="283" r:id="rId5"/>
    <p:sldId id="329" r:id="rId6"/>
    <p:sldId id="287" r:id="rId7"/>
    <p:sldId id="288" r:id="rId8"/>
    <p:sldId id="256" r:id="rId9"/>
    <p:sldId id="290" r:id="rId10"/>
    <p:sldId id="305" r:id="rId11"/>
    <p:sldId id="289" r:id="rId12"/>
    <p:sldId id="291" r:id="rId13"/>
    <p:sldId id="292" r:id="rId14"/>
    <p:sldId id="331" r:id="rId15"/>
    <p:sldId id="295" r:id="rId16"/>
    <p:sldId id="293" r:id="rId17"/>
    <p:sldId id="296" r:id="rId18"/>
    <p:sldId id="297" r:id="rId19"/>
    <p:sldId id="298" r:id="rId20"/>
    <p:sldId id="299" r:id="rId21"/>
    <p:sldId id="306" r:id="rId22"/>
    <p:sldId id="308" r:id="rId23"/>
    <p:sldId id="300" r:id="rId24"/>
    <p:sldId id="334" r:id="rId25"/>
    <p:sldId id="335" r:id="rId26"/>
    <p:sldId id="336" r:id="rId27"/>
    <p:sldId id="337" r:id="rId28"/>
    <p:sldId id="257" r:id="rId29"/>
    <p:sldId id="338" r:id="rId30"/>
    <p:sldId id="339" r:id="rId31"/>
    <p:sldId id="264" r:id="rId32"/>
    <p:sldId id="280" r:id="rId33"/>
    <p:sldId id="262" r:id="rId34"/>
    <p:sldId id="270" r:id="rId35"/>
    <p:sldId id="265" r:id="rId36"/>
    <p:sldId id="284" r:id="rId37"/>
    <p:sldId id="266" r:id="rId38"/>
    <p:sldId id="285" r:id="rId39"/>
    <p:sldId id="267" r:id="rId40"/>
    <p:sldId id="268" r:id="rId41"/>
    <p:sldId id="269" r:id="rId42"/>
    <p:sldId id="271" r:id="rId43"/>
    <p:sldId id="272" r:id="rId44"/>
    <p:sldId id="278" r:id="rId45"/>
    <p:sldId id="301" r:id="rId46"/>
    <p:sldId id="281" r:id="rId47"/>
    <p:sldId id="302" r:id="rId48"/>
    <p:sldId id="303" r:id="rId49"/>
    <p:sldId id="277" r:id="rId50"/>
    <p:sldId id="276" r:id="rId51"/>
    <p:sldId id="275" r:id="rId52"/>
    <p:sldId id="274" r:id="rId53"/>
    <p:sldId id="261" r:id="rId54"/>
    <p:sldId id="310" r:id="rId55"/>
    <p:sldId id="258" r:id="rId56"/>
    <p:sldId id="259" r:id="rId57"/>
    <p:sldId id="312" r:id="rId58"/>
    <p:sldId id="314" r:id="rId59"/>
    <p:sldId id="316" r:id="rId60"/>
    <p:sldId id="317" r:id="rId61"/>
    <p:sldId id="326" r:id="rId62"/>
    <p:sldId id="328" r:id="rId63"/>
    <p:sldId id="327" r:id="rId64"/>
    <p:sldId id="318" r:id="rId65"/>
    <p:sldId id="319" r:id="rId66"/>
    <p:sldId id="320" r:id="rId67"/>
    <p:sldId id="260" r:id="rId68"/>
    <p:sldId id="321" r:id="rId69"/>
    <p:sldId id="322" r:id="rId70"/>
    <p:sldId id="323" r:id="rId71"/>
    <p:sldId id="324" r:id="rId72"/>
    <p:sldId id="325" r:id="rId7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46"/>
  </p:normalViewPr>
  <p:slideViewPr>
    <p:cSldViewPr>
      <p:cViewPr varScale="1">
        <p:scale>
          <a:sx n="103" d="100"/>
          <a:sy n="103" d="100"/>
        </p:scale>
        <p:origin x="1784"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02CC6E-D483-42DD-86CE-AEA1475B37FE}" type="datetimeFigureOut">
              <a:rPr lang="en-US" smtClean="0"/>
              <a:t>11/18/25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FF008A-C5A1-4B45-8D4B-D4C8AC9567A9}" type="slidenum">
              <a:rPr lang="en-US" smtClean="0"/>
              <a:t>‹#›</a:t>
            </a:fld>
            <a:endParaRPr lang="en-US"/>
          </a:p>
        </p:txBody>
      </p:sp>
    </p:spTree>
    <p:extLst>
      <p:ext uri="{BB962C8B-B14F-4D97-AF65-F5344CB8AC3E}">
        <p14:creationId xmlns:p14="http://schemas.microsoft.com/office/powerpoint/2010/main" val="8031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p:cNvSpPr>
            <a:spLocks noGrp="1" noRot="1" noChangeAspect="1" noTextEdit="1"/>
          </p:cNvSpPr>
          <p:nvPr>
            <p:ph type="sldImg"/>
          </p:nvPr>
        </p:nvSpPr>
        <p:spPr bwMode="auto">
          <a:noFill/>
          <a:ln>
            <a:solidFill>
              <a:srgbClr val="000000"/>
            </a:solidFill>
            <a:miter lim="800000"/>
            <a:headEnd/>
            <a:tailEnd/>
          </a:ln>
        </p:spPr>
      </p:sp>
      <p:sp>
        <p:nvSpPr>
          <p:cNvPr id="15257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IN"/>
          </a:p>
        </p:txBody>
      </p:sp>
      <p:sp>
        <p:nvSpPr>
          <p:cNvPr id="15258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1435" tIns="45718" rIns="91435" bIns="45718" anchor="b"/>
          <a:lstStyle/>
          <a:p>
            <a:pPr algn="r" eaLnBrk="0" hangingPunct="0"/>
            <a:fld id="{D3123A99-90FA-4D2C-AABA-3DB2257C581F}" type="slidenum">
              <a:rPr lang="en-US" sz="1200"/>
              <a:pPr algn="r" eaLnBrk="0" hangingPunct="0"/>
              <a:t>5</a:t>
            </a:fld>
            <a:endParaRPr 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bwMode="auto">
          <a:noFill/>
          <a:ln>
            <a:solidFill>
              <a:srgbClr val="000000"/>
            </a:solidFill>
            <a:miter lim="800000"/>
            <a:headEnd/>
            <a:tailEnd/>
          </a:ln>
        </p:spPr>
      </p:sp>
      <p:sp>
        <p:nvSpPr>
          <p:cNvPr id="15769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a:p>
            <a:pPr>
              <a:spcBef>
                <a:spcPct val="0"/>
              </a:spcBef>
            </a:pPr>
            <a:r>
              <a:rPr lang="en-US"/>
              <a:t>Work directly with physicians and patients as team member in medical facility</a:t>
            </a:r>
          </a:p>
          <a:p>
            <a:pPr>
              <a:spcBef>
                <a:spcPct val="0"/>
              </a:spcBef>
            </a:pPr>
            <a:endParaRPr lang="en-US"/>
          </a:p>
          <a:p>
            <a:pPr>
              <a:spcBef>
                <a:spcPct val="0"/>
              </a:spcBef>
            </a:pPr>
            <a:r>
              <a:rPr lang="en-US"/>
              <a:t>Interact with nurses and other medical staff as part of health care team</a:t>
            </a:r>
          </a:p>
          <a:p>
            <a:pPr>
              <a:spcBef>
                <a:spcPct val="0"/>
              </a:spcBef>
            </a:pPr>
            <a:endParaRPr lang="en-US"/>
          </a:p>
        </p:txBody>
      </p:sp>
      <p:sp>
        <p:nvSpPr>
          <p:cNvPr id="15770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1435" tIns="45718" rIns="91435" bIns="45718" anchor="b"/>
          <a:lstStyle/>
          <a:p>
            <a:pPr algn="r" eaLnBrk="0" hangingPunct="0"/>
            <a:fld id="{AB9E3C2A-55CD-4085-B412-AFE1E5597C0A}" type="slidenum">
              <a:rPr lang="en-US" sz="1200"/>
              <a:pPr algn="r" eaLnBrk="0" hangingPunct="0"/>
              <a:t>10</a:t>
            </a:fld>
            <a:endParaRPr 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bwMode="auto">
          <a:noFill/>
          <a:ln>
            <a:solidFill>
              <a:srgbClr val="000000"/>
            </a:solidFill>
            <a:miter lim="800000"/>
            <a:headEnd/>
            <a:tailEnd/>
          </a:ln>
        </p:spPr>
      </p:sp>
      <p:sp>
        <p:nvSpPr>
          <p:cNvPr id="15872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IN"/>
          </a:p>
        </p:txBody>
      </p:sp>
      <p:sp>
        <p:nvSpPr>
          <p:cNvPr id="158724"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1435" tIns="45718" rIns="91435" bIns="45718" anchor="b"/>
          <a:lstStyle/>
          <a:p>
            <a:pPr algn="r" eaLnBrk="0" hangingPunct="0"/>
            <a:fld id="{D580C184-57B9-454D-A2E0-16B3E7875DC4}" type="slidenum">
              <a:rPr lang="en-US" sz="1200"/>
              <a:pPr algn="r" eaLnBrk="0" hangingPunct="0"/>
              <a:t>11</a:t>
            </a:fld>
            <a:endParaRPr 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bwMode="auto">
          <a:noFill/>
          <a:ln>
            <a:solidFill>
              <a:srgbClr val="000000"/>
            </a:solidFill>
            <a:miter lim="800000"/>
            <a:headEnd/>
            <a:tailEnd/>
          </a:ln>
        </p:spPr>
      </p:sp>
      <p:sp>
        <p:nvSpPr>
          <p:cNvPr id="1597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IN"/>
          </a:p>
        </p:txBody>
      </p:sp>
      <p:sp>
        <p:nvSpPr>
          <p:cNvPr id="15974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1435" tIns="45718" rIns="91435" bIns="45718" anchor="b"/>
          <a:lstStyle/>
          <a:p>
            <a:pPr algn="r" eaLnBrk="0" hangingPunct="0"/>
            <a:fld id="{61F2A7D9-0145-4054-AA5C-24CC70DAC345}" type="slidenum">
              <a:rPr lang="en-US" sz="1200"/>
              <a:pPr algn="r" eaLnBrk="0" hangingPunct="0"/>
              <a:t>12</a:t>
            </a:fld>
            <a:endParaRPr 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bwMode="auto">
          <a:noFill/>
          <a:ln>
            <a:solidFill>
              <a:srgbClr val="000000"/>
            </a:solidFill>
            <a:miter lim="800000"/>
            <a:headEnd/>
            <a:tailEnd/>
          </a:ln>
        </p:spPr>
      </p:sp>
      <p:sp>
        <p:nvSpPr>
          <p:cNvPr id="1607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IN"/>
          </a:p>
        </p:txBody>
      </p:sp>
      <p:sp>
        <p:nvSpPr>
          <p:cNvPr id="16077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1435" tIns="45718" rIns="91435" bIns="45718" anchor="b"/>
          <a:lstStyle/>
          <a:p>
            <a:pPr algn="r" eaLnBrk="0" hangingPunct="0"/>
            <a:fld id="{08694B7F-977C-4F5B-A50B-7A05B33AFE61}" type="slidenum">
              <a:rPr lang="en-US" sz="1200"/>
              <a:pPr algn="r" eaLnBrk="0" hangingPunct="0"/>
              <a:t>15</a:t>
            </a:fld>
            <a:endParaRPr 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bwMode="auto">
          <a:noFill/>
          <a:ln>
            <a:solidFill>
              <a:srgbClr val="000000"/>
            </a:solidFill>
            <a:miter lim="800000"/>
            <a:headEnd/>
            <a:tailEnd/>
          </a:ln>
        </p:spPr>
      </p:sp>
      <p:sp>
        <p:nvSpPr>
          <p:cNvPr id="16179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IN"/>
          </a:p>
        </p:txBody>
      </p:sp>
      <p:sp>
        <p:nvSpPr>
          <p:cNvPr id="16179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1435" tIns="45718" rIns="91435" bIns="45718" anchor="b"/>
          <a:lstStyle/>
          <a:p>
            <a:pPr algn="r" eaLnBrk="0" hangingPunct="0"/>
            <a:fld id="{D0AA79FD-FD0F-4C58-84A3-5ECE970A452A}" type="slidenum">
              <a:rPr lang="en-US" sz="1200"/>
              <a:pPr algn="r" eaLnBrk="0" hangingPunct="0"/>
              <a:t>16</a:t>
            </a:fld>
            <a:endParaRPr 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Slide Image Placeholder 1"/>
          <p:cNvSpPr>
            <a:spLocks noGrp="1" noRot="1" noChangeAspect="1" noTextEdit="1"/>
          </p:cNvSpPr>
          <p:nvPr>
            <p:ph type="sldImg"/>
          </p:nvPr>
        </p:nvSpPr>
        <p:spPr bwMode="auto">
          <a:noFill/>
          <a:ln>
            <a:solidFill>
              <a:srgbClr val="000000"/>
            </a:solidFill>
            <a:miter lim="800000"/>
            <a:headEnd/>
            <a:tailEnd/>
          </a:ln>
        </p:spPr>
      </p:sp>
      <p:sp>
        <p:nvSpPr>
          <p:cNvPr id="24064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IN"/>
          </a:p>
        </p:txBody>
      </p:sp>
      <p:sp>
        <p:nvSpPr>
          <p:cNvPr id="240644"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1435" tIns="45718" rIns="91435" bIns="45718" anchor="b"/>
          <a:lstStyle/>
          <a:p>
            <a:pPr algn="r" eaLnBrk="0" hangingPunct="0"/>
            <a:fld id="{08F1DA94-CC7F-4EAA-A9B9-43C574F49120}" type="slidenum">
              <a:rPr lang="en-US" sz="1200"/>
              <a:pPr algn="r" eaLnBrk="0" hangingPunct="0"/>
              <a:t>17</a:t>
            </a:fld>
            <a:endParaRPr 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Slide Image Placeholder 1"/>
          <p:cNvSpPr>
            <a:spLocks noGrp="1" noRot="1" noChangeAspect="1" noTextEdit="1"/>
          </p:cNvSpPr>
          <p:nvPr>
            <p:ph type="sldImg"/>
          </p:nvPr>
        </p:nvSpPr>
        <p:spPr bwMode="auto">
          <a:noFill/>
          <a:ln>
            <a:solidFill>
              <a:srgbClr val="000000"/>
            </a:solidFill>
            <a:miter lim="800000"/>
            <a:headEnd/>
            <a:tailEnd/>
          </a:ln>
        </p:spPr>
      </p:sp>
      <p:sp>
        <p:nvSpPr>
          <p:cNvPr id="24166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IN"/>
          </a:p>
        </p:txBody>
      </p:sp>
      <p:sp>
        <p:nvSpPr>
          <p:cNvPr id="24166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1435" tIns="45718" rIns="91435" bIns="45718" anchor="b"/>
          <a:lstStyle/>
          <a:p>
            <a:pPr algn="r" eaLnBrk="0" hangingPunct="0"/>
            <a:fld id="{F620F50F-2431-411B-BCF8-3B0A71D1215F}" type="slidenum">
              <a:rPr lang="en-US" sz="1200"/>
              <a:pPr algn="r" eaLnBrk="0" hangingPunct="0"/>
              <a:t>18</a:t>
            </a:fld>
            <a:endParaRPr 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p:spPr>
      </p:sp>
      <p:sp>
        <p:nvSpPr>
          <p:cNvPr id="15565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ea typeface="ＭＳ Ｐゴシック" pitchFamily="34" charset="-128"/>
            </a:endParaRPr>
          </a:p>
        </p:txBody>
      </p:sp>
      <p:sp>
        <p:nvSpPr>
          <p:cNvPr id="155652" name="Slide Number Placeholder 3"/>
          <p:cNvSpPr>
            <a:spLocks noGrp="1"/>
          </p:cNvSpPr>
          <p:nvPr>
            <p:ph type="sldNum" sz="quarter" idx="5"/>
          </p:nvPr>
        </p:nvSpPr>
        <p:spPr bwMode="auto">
          <a:noFill/>
          <a:ln>
            <a:miter lim="800000"/>
            <a:headEnd/>
            <a:tailEnd/>
          </a:ln>
        </p:spPr>
        <p:txBody>
          <a:bodyPr/>
          <a:lstStyle/>
          <a:p>
            <a:fld id="{DC6CFEB7-802C-4789-8478-66CC3E7AE84C}" type="slidenum">
              <a:rPr lang="en-US" smtClean="0">
                <a:latin typeface="Tahoma" pitchFamily="34" charset="0"/>
                <a:ea typeface="ＭＳ Ｐゴシック" pitchFamily="34" charset="-128"/>
              </a:rPr>
              <a:pPr/>
              <a:t>19</a:t>
            </a:fld>
            <a:endParaRPr lang="en-US">
              <a:latin typeface="Tahoma" pitchFamily="34" charset="0"/>
              <a:ea typeface="ＭＳ Ｐゴシック"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BAAE3C7B-7ACF-4A92-8CF8-D13BD4638198}" type="slidenum">
              <a:rPr lang="en-US" altLang="en-US"/>
              <a:pPr/>
              <a:t>21</a:t>
            </a:fld>
            <a:endParaRPr lang="en-US" altLang="en-US"/>
          </a:p>
        </p:txBody>
      </p:sp>
      <p:sp>
        <p:nvSpPr>
          <p:cNvPr id="465923" name="Rectangle 2"/>
          <p:cNvSpPr>
            <a:spLocks noGrp="1" noRot="1" noChangeAspect="1" noChangeArrowheads="1" noTextEdit="1"/>
          </p:cNvSpPr>
          <p:nvPr>
            <p:ph type="sldImg"/>
          </p:nvPr>
        </p:nvSpPr>
        <p:spPr>
          <a:ln/>
        </p:spPr>
      </p:sp>
      <p:sp>
        <p:nvSpPr>
          <p:cNvPr id="465924" name="Rectangle 3"/>
          <p:cNvSpPr>
            <a:spLocks noGrp="1" noChangeArrowheads="1"/>
          </p:cNvSpPr>
          <p:nvPr>
            <p:ph type="body" idx="1"/>
          </p:nvPr>
        </p:nvSpPr>
        <p:spPr>
          <a:noFill/>
        </p:spPr>
        <p:txBody>
          <a:bodyPr/>
          <a:lstStyle/>
          <a:p>
            <a:pPr eaLnBrk="1" hangingPunct="1"/>
            <a:r>
              <a:rPr lang="en-US" altLang="en-US" dirty="0">
                <a:latin typeface="Arial" charset="0"/>
                <a:cs typeface="Arial" charset="0"/>
              </a:rPr>
              <a:t>Technical report accompanies the recorded ultrasound images.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bwMode="auto">
          <a:noFill/>
          <a:ln>
            <a:solidFill>
              <a:srgbClr val="000000"/>
            </a:solidFill>
            <a:miter lim="800000"/>
            <a:headEnd/>
            <a:tailEnd/>
          </a:ln>
        </p:spPr>
      </p:sp>
      <p:sp>
        <p:nvSpPr>
          <p:cNvPr id="15667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ea typeface="ＭＳ Ｐゴシック" pitchFamily="34" charset="-128"/>
            </a:endParaRPr>
          </a:p>
        </p:txBody>
      </p:sp>
      <p:sp>
        <p:nvSpPr>
          <p:cNvPr id="156676" name="Slide Number Placeholder 3"/>
          <p:cNvSpPr>
            <a:spLocks noGrp="1"/>
          </p:cNvSpPr>
          <p:nvPr>
            <p:ph type="sldNum" sz="quarter" idx="5"/>
          </p:nvPr>
        </p:nvSpPr>
        <p:spPr bwMode="auto">
          <a:noFill/>
          <a:ln>
            <a:miter lim="800000"/>
            <a:headEnd/>
            <a:tailEnd/>
          </a:ln>
        </p:spPr>
        <p:txBody>
          <a:bodyPr/>
          <a:lstStyle/>
          <a:p>
            <a:fld id="{8462BF3A-7FEF-4F6A-A2EC-34E81956E352}" type="slidenum">
              <a:rPr lang="en-US" smtClean="0">
                <a:latin typeface="Tahoma" pitchFamily="34" charset="0"/>
                <a:ea typeface="ＭＳ Ｐゴシック" pitchFamily="34" charset="-128"/>
              </a:rPr>
              <a:pPr/>
              <a:t>22</a:t>
            </a:fld>
            <a:endParaRPr lang="en-US">
              <a:latin typeface="Tahoma" pitchFamily="34" charset="0"/>
              <a:ea typeface="ＭＳ Ｐゴシック"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F84ACF26-8E19-4438-97F6-7CF6DDEB6F03}" type="slidenum">
              <a:rPr lang="en-US" altLang="en-US"/>
              <a:pPr/>
              <a:t>53</a:t>
            </a:fld>
            <a:endParaRPr lang="en-US" altLang="en-US"/>
          </a:p>
        </p:txBody>
      </p:sp>
      <p:sp>
        <p:nvSpPr>
          <p:cNvPr id="470019" name="Rectangle 2"/>
          <p:cNvSpPr>
            <a:spLocks noGrp="1" noRot="1" noChangeAspect="1" noChangeArrowheads="1" noTextEdit="1"/>
          </p:cNvSpPr>
          <p:nvPr>
            <p:ph type="sldImg"/>
          </p:nvPr>
        </p:nvSpPr>
        <p:spPr>
          <a:ln/>
        </p:spPr>
      </p:sp>
      <p:sp>
        <p:nvSpPr>
          <p:cNvPr id="470020" name="Rectangle 3"/>
          <p:cNvSpPr>
            <a:spLocks noGrp="1" noChangeArrowheads="1"/>
          </p:cNvSpPr>
          <p:nvPr>
            <p:ph type="body" idx="1"/>
          </p:nvPr>
        </p:nvSpPr>
        <p:spPr>
          <a:noFill/>
        </p:spPr>
        <p:txBody>
          <a:bodyPr/>
          <a:lstStyle/>
          <a:p>
            <a:pPr eaLnBrk="1" hangingPunct="1"/>
            <a:r>
              <a:rPr lang="en-US" altLang="en-US" dirty="0">
                <a:latin typeface="Arial" charset="0"/>
                <a:cs typeface="Arial" charset="0"/>
              </a:rPr>
              <a:t>Once universal precautions are mastered, entry-level </a:t>
            </a:r>
            <a:r>
              <a:rPr lang="en-US" altLang="en-US" dirty="0" err="1">
                <a:latin typeface="Arial" charset="0"/>
                <a:cs typeface="Arial" charset="0"/>
              </a:rPr>
              <a:t>sonographers</a:t>
            </a:r>
            <a:r>
              <a:rPr lang="en-US" altLang="en-US" dirty="0">
                <a:latin typeface="Arial" charset="0"/>
                <a:cs typeface="Arial" charset="0"/>
              </a:rPr>
              <a:t> should turn their attention to essential documents for ultrasound studies.</a:t>
            </a:r>
          </a:p>
          <a:p>
            <a:pPr eaLnBrk="1" hangingPunct="1"/>
            <a:endParaRPr lang="en-US" altLang="en-US" dirty="0">
              <a:latin typeface="Arial" charset="0"/>
              <a:cs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0875BD45-E51C-4C14-9BDC-B0A7BC6B7B95}" type="slidenum">
              <a:rPr lang="en-US" altLang="en-US"/>
              <a:pPr/>
              <a:t>54</a:t>
            </a:fld>
            <a:endParaRPr lang="en-US" altLang="en-US"/>
          </a:p>
        </p:txBody>
      </p:sp>
      <p:sp>
        <p:nvSpPr>
          <p:cNvPr id="471043" name="Rectangle 2"/>
          <p:cNvSpPr>
            <a:spLocks noGrp="1" noRot="1" noChangeAspect="1" noChangeArrowheads="1" noTextEdit="1"/>
          </p:cNvSpPr>
          <p:nvPr>
            <p:ph type="sldImg"/>
          </p:nvPr>
        </p:nvSpPr>
        <p:spPr>
          <a:ln/>
        </p:spPr>
      </p:sp>
      <p:sp>
        <p:nvSpPr>
          <p:cNvPr id="471044" name="Rectangle 3"/>
          <p:cNvSpPr>
            <a:spLocks noGrp="1" noChangeArrowheads="1"/>
          </p:cNvSpPr>
          <p:nvPr>
            <p:ph type="body" idx="1"/>
          </p:nvPr>
        </p:nvSpPr>
        <p:spPr>
          <a:noFill/>
        </p:spPr>
        <p:txBody>
          <a:bodyPr/>
          <a:lstStyle/>
          <a:p>
            <a:pPr eaLnBrk="1" hangingPunct="1"/>
            <a:r>
              <a:rPr lang="en-US" altLang="en-US" b="1" dirty="0">
                <a:latin typeface="Arial" charset="0"/>
                <a:cs typeface="Arial" charset="0"/>
              </a:rPr>
              <a:t>Patient identification—</a:t>
            </a:r>
            <a:r>
              <a:rPr lang="en-US" altLang="en-US" dirty="0">
                <a:latin typeface="Arial" charset="0"/>
                <a:cs typeface="Arial" charset="0"/>
              </a:rPr>
              <a:t>patient name, medical record number, hospital room number if possible </a:t>
            </a:r>
          </a:p>
          <a:p>
            <a:pPr eaLnBrk="1" hangingPunct="1"/>
            <a:r>
              <a:rPr lang="en-US" altLang="en-US" b="1" dirty="0">
                <a:latin typeface="Arial" charset="0"/>
                <a:cs typeface="Arial" charset="0"/>
              </a:rPr>
              <a:t>Examination priority and location</a:t>
            </a:r>
            <a:r>
              <a:rPr lang="en-US" altLang="en-US" dirty="0"/>
              <a:t>—</a:t>
            </a:r>
            <a:r>
              <a:rPr lang="en-US" altLang="en-US" dirty="0">
                <a:latin typeface="Arial" charset="0"/>
                <a:cs typeface="Arial" charset="0"/>
              </a:rPr>
              <a:t>Is the examination STAT? Is the examination at the patient bedside (portable)? </a:t>
            </a:r>
          </a:p>
          <a:p>
            <a:pPr eaLnBrk="1" hangingPunct="1"/>
            <a:r>
              <a:rPr lang="en-US" altLang="en-US" b="1" dirty="0">
                <a:latin typeface="Arial" charset="0"/>
                <a:cs typeface="Arial" charset="0"/>
              </a:rPr>
              <a:t>Patient precautions</a:t>
            </a:r>
            <a:r>
              <a:rPr lang="en-US" altLang="en-US" dirty="0"/>
              <a:t>—</a:t>
            </a:r>
            <a:r>
              <a:rPr lang="en-US" altLang="en-US" dirty="0">
                <a:latin typeface="Arial" charset="0"/>
                <a:cs typeface="Arial" charset="0"/>
              </a:rPr>
              <a:t>Are there any additional precautions necessary with this patient? </a:t>
            </a:r>
            <a:endParaRPr lang="en-US" altLang="en-US" b="1" dirty="0">
              <a:latin typeface="Arial" charset="0"/>
              <a:cs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BD14FE92-F856-4C3A-B13D-F8968FD2049C}" type="slidenum">
              <a:rPr lang="en-US" altLang="en-US"/>
              <a:pPr/>
              <a:t>55</a:t>
            </a:fld>
            <a:endParaRPr lang="en-US" altLang="en-US"/>
          </a:p>
        </p:txBody>
      </p:sp>
      <p:sp>
        <p:nvSpPr>
          <p:cNvPr id="472067" name="Rectangle 2"/>
          <p:cNvSpPr>
            <a:spLocks noGrp="1" noRot="1" noChangeAspect="1" noChangeArrowheads="1" noTextEdit="1"/>
          </p:cNvSpPr>
          <p:nvPr>
            <p:ph type="sldImg"/>
          </p:nvPr>
        </p:nvSpPr>
        <p:spPr>
          <a:ln/>
        </p:spPr>
      </p:sp>
      <p:sp>
        <p:nvSpPr>
          <p:cNvPr id="472068" name="Rectangle 3"/>
          <p:cNvSpPr>
            <a:spLocks noGrp="1" noChangeArrowheads="1"/>
          </p:cNvSpPr>
          <p:nvPr>
            <p:ph type="body" idx="1"/>
          </p:nvPr>
        </p:nvSpPr>
        <p:spPr>
          <a:noFill/>
        </p:spPr>
        <p:txBody>
          <a:bodyPr/>
          <a:lstStyle/>
          <a:p>
            <a:pPr eaLnBrk="1" hangingPunct="1"/>
            <a:r>
              <a:rPr lang="en-US" altLang="en-US" b="1" dirty="0">
                <a:latin typeface="Arial" charset="0"/>
                <a:cs typeface="Arial" charset="0"/>
              </a:rPr>
              <a:t>Name</a:t>
            </a:r>
            <a:r>
              <a:rPr lang="en-US" altLang="en-US" dirty="0"/>
              <a:t>—</a:t>
            </a:r>
            <a:r>
              <a:rPr lang="en-US" altLang="en-US" dirty="0">
                <a:latin typeface="Arial" charset="0"/>
                <a:cs typeface="Arial" charset="0"/>
              </a:rPr>
              <a:t>may also include the name of the clinic where the physician saw the patient.</a:t>
            </a:r>
          </a:p>
          <a:p>
            <a:pPr eaLnBrk="1" hangingPunct="1"/>
            <a:r>
              <a:rPr lang="en-US" altLang="en-US" b="1" dirty="0">
                <a:latin typeface="Arial" charset="0"/>
                <a:cs typeface="Arial" charset="0"/>
              </a:rPr>
              <a:t>Essential data</a:t>
            </a:r>
            <a:r>
              <a:rPr lang="en-US" altLang="en-US" dirty="0"/>
              <a:t>—</a:t>
            </a:r>
            <a:r>
              <a:rPr lang="en-US" altLang="en-US" dirty="0">
                <a:latin typeface="Arial" charset="0"/>
                <a:cs typeface="Arial" charset="0"/>
              </a:rPr>
              <a:t>patient symptoms, laboratory values, reason for the examination (i.e., rule out)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00DD6864-E851-4510-B34E-05203966DB6C}" type="slidenum">
              <a:rPr lang="en-US" altLang="en-US"/>
              <a:pPr/>
              <a:t>56</a:t>
            </a:fld>
            <a:endParaRPr lang="en-US" altLang="en-US"/>
          </a:p>
        </p:txBody>
      </p:sp>
      <p:sp>
        <p:nvSpPr>
          <p:cNvPr id="473091" name="Rectangle 2"/>
          <p:cNvSpPr>
            <a:spLocks noGrp="1" noRot="1" noChangeAspect="1" noChangeArrowheads="1" noTextEdit="1"/>
          </p:cNvSpPr>
          <p:nvPr>
            <p:ph type="sldImg"/>
          </p:nvPr>
        </p:nvSpPr>
        <p:spPr>
          <a:ln/>
        </p:spPr>
      </p:sp>
      <p:sp>
        <p:nvSpPr>
          <p:cNvPr id="473092" name="Rectangle 3"/>
          <p:cNvSpPr>
            <a:spLocks noGrp="1" noChangeArrowheads="1"/>
          </p:cNvSpPr>
          <p:nvPr>
            <p:ph type="body" idx="1"/>
          </p:nvPr>
        </p:nvSpPr>
        <p:spPr>
          <a:noFill/>
        </p:spPr>
        <p:txBody>
          <a:bodyPr/>
          <a:lstStyle/>
          <a:p>
            <a:pPr eaLnBrk="1" hangingPunct="1"/>
            <a:r>
              <a:rPr lang="en-US" altLang="en-US" dirty="0">
                <a:latin typeface="Arial" charset="0"/>
                <a:cs typeface="Arial" charset="0"/>
              </a:rPr>
              <a:t>This is the area where the ordering physician can add pertinent clinical information/history on the patient. Examples include abdominal pain, abnormal laboratory findings, family history of … , follow-up examination, thyroid nodules, to name a few. </a:t>
            </a:r>
          </a:p>
          <a:p>
            <a:pPr eaLnBrk="1" hangingPunct="1"/>
            <a:r>
              <a:rPr lang="en-US" altLang="en-US" dirty="0">
                <a:latin typeface="Arial" charset="0"/>
                <a:cs typeface="Arial" charset="0"/>
              </a:rPr>
              <a:t>The request should also include a physician signature to be valid. </a:t>
            </a:r>
          </a:p>
          <a:p>
            <a:pPr eaLnBrk="1" hangingPunct="1"/>
            <a:r>
              <a:rPr lang="en-US" altLang="en-US" dirty="0">
                <a:latin typeface="Arial" charset="0"/>
                <a:cs typeface="Arial" charset="0"/>
              </a:rPr>
              <a:t>Area for bar code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99FA13F1-9110-4C10-BC32-5078815723FF}" type="slidenum">
              <a:rPr lang="en-US" altLang="en-US"/>
              <a:pPr/>
              <a:t>57</a:t>
            </a:fld>
            <a:endParaRPr lang="en-US" altLang="en-US"/>
          </a:p>
        </p:txBody>
      </p:sp>
      <p:sp>
        <p:nvSpPr>
          <p:cNvPr id="474115" name="Rectangle 2"/>
          <p:cNvSpPr>
            <a:spLocks noGrp="1" noRot="1" noChangeAspect="1" noChangeArrowheads="1" noTextEdit="1"/>
          </p:cNvSpPr>
          <p:nvPr>
            <p:ph type="sldImg"/>
          </p:nvPr>
        </p:nvSpPr>
        <p:spPr>
          <a:ln/>
        </p:spPr>
      </p:sp>
      <p:sp>
        <p:nvSpPr>
          <p:cNvPr id="474116" name="Rectangle 3"/>
          <p:cNvSpPr>
            <a:spLocks noGrp="1" noChangeArrowheads="1"/>
          </p:cNvSpPr>
          <p:nvPr>
            <p:ph type="body" idx="1"/>
          </p:nvPr>
        </p:nvSpPr>
        <p:spPr>
          <a:noFill/>
        </p:spPr>
        <p:txBody>
          <a:bodyPr/>
          <a:lstStyle/>
          <a:p>
            <a:pPr eaLnBrk="1" hangingPunct="1"/>
            <a:endParaRPr lang="en-US" altLang="en-US">
              <a:latin typeface="Arial" charset="0"/>
              <a:cs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882A9B04-4879-4B21-8508-7A62578EEBED}" type="slidenum">
              <a:rPr lang="en-US" altLang="en-US"/>
              <a:pPr/>
              <a:t>58</a:t>
            </a:fld>
            <a:endParaRPr lang="en-US" altLang="en-US"/>
          </a:p>
        </p:txBody>
      </p:sp>
      <p:sp>
        <p:nvSpPr>
          <p:cNvPr id="475139" name="Rectangle 2"/>
          <p:cNvSpPr>
            <a:spLocks noGrp="1" noRot="1" noChangeAspect="1" noChangeArrowheads="1" noTextEdit="1"/>
          </p:cNvSpPr>
          <p:nvPr>
            <p:ph type="sldImg"/>
          </p:nvPr>
        </p:nvSpPr>
        <p:spPr>
          <a:ln/>
        </p:spPr>
      </p:sp>
      <p:sp>
        <p:nvSpPr>
          <p:cNvPr id="475140" name="Rectangle 3"/>
          <p:cNvSpPr>
            <a:spLocks noGrp="1" noChangeArrowheads="1"/>
          </p:cNvSpPr>
          <p:nvPr>
            <p:ph type="body" idx="1"/>
          </p:nvPr>
        </p:nvSpPr>
        <p:spPr>
          <a:noFill/>
        </p:spPr>
        <p:txBody>
          <a:bodyPr/>
          <a:lstStyle/>
          <a:p>
            <a:pPr eaLnBrk="1" hangingPunct="1"/>
            <a:r>
              <a:rPr lang="en-US" altLang="en-US" b="1" dirty="0">
                <a:latin typeface="Arial" charset="0"/>
                <a:cs typeface="Arial" charset="0"/>
              </a:rPr>
              <a:t>Box 1-1 </a:t>
            </a:r>
            <a:r>
              <a:rPr lang="en-US" altLang="en-US" dirty="0">
                <a:latin typeface="Arial" charset="0"/>
                <a:cs typeface="Arial" charset="0"/>
              </a:rPr>
              <a:t>lists the information found in a patient’s chart. </a:t>
            </a:r>
          </a:p>
          <a:p>
            <a:pPr eaLnBrk="1" hangingPunct="1"/>
            <a:r>
              <a:rPr lang="en-US" altLang="en-US" b="1" dirty="0">
                <a:latin typeface="Arial" charset="0"/>
                <a:cs typeface="Arial" charset="0"/>
              </a:rPr>
              <a:t>The important items in a patient’s chart for sonographers to review are </a:t>
            </a:r>
          </a:p>
          <a:p>
            <a:pPr eaLnBrk="1" hangingPunct="1"/>
            <a:r>
              <a:rPr lang="en-US" altLang="en-US" b="1" dirty="0">
                <a:latin typeface="Arial" charset="0"/>
                <a:cs typeface="Arial" charset="0"/>
              </a:rPr>
              <a:t>Assessment notes</a:t>
            </a:r>
            <a:r>
              <a:rPr lang="en-IE" dirty="0">
                <a:latin typeface="Arial" charset="0"/>
                <a:ea typeface="MS PGothic" pitchFamily="34" charset="-128"/>
                <a:cs typeface="ＭＳ Ｐゴシック" pitchFamily="-1" charset="-128"/>
              </a:rPr>
              <a:t>—</a:t>
            </a:r>
            <a:r>
              <a:rPr lang="en-US" altLang="en-US" dirty="0">
                <a:latin typeface="Arial" charset="0"/>
                <a:cs typeface="Arial" charset="0"/>
              </a:rPr>
              <a:t>results from the patient’s physical examination, list of their symptoms, and any other notable findings. </a:t>
            </a:r>
          </a:p>
          <a:p>
            <a:pPr eaLnBrk="1" hangingPunct="1"/>
            <a:r>
              <a:rPr lang="en-US" altLang="en-US" b="1" dirty="0">
                <a:latin typeface="Arial" charset="0"/>
                <a:cs typeface="Arial" charset="0"/>
              </a:rPr>
              <a:t>Laboratory findings</a:t>
            </a:r>
            <a:r>
              <a:rPr lang="en-IE" dirty="0">
                <a:latin typeface="Arial" charset="0"/>
                <a:ea typeface="MS PGothic" pitchFamily="34" charset="-128"/>
                <a:cs typeface="ＭＳ Ｐゴシック" pitchFamily="-1" charset="-128"/>
              </a:rPr>
              <a:t>—</a:t>
            </a:r>
            <a:r>
              <a:rPr lang="en-US" altLang="en-US" dirty="0">
                <a:latin typeface="Arial" charset="0"/>
                <a:cs typeface="Arial" charset="0"/>
              </a:rPr>
              <a:t>Are laboratory findings normal or abnormal? </a:t>
            </a:r>
          </a:p>
          <a:p>
            <a:pPr eaLnBrk="1" hangingPunct="1"/>
            <a:r>
              <a:rPr lang="en-US" altLang="en-US" b="1" dirty="0">
                <a:latin typeface="Arial" charset="0"/>
                <a:cs typeface="Arial" charset="0"/>
              </a:rPr>
              <a:t>Imaging modalities</a:t>
            </a:r>
            <a:r>
              <a:rPr lang="en-IE" dirty="0">
                <a:latin typeface="Arial" charset="0"/>
                <a:ea typeface="MS PGothic" pitchFamily="34" charset="-128"/>
                <a:cs typeface="ＭＳ Ｐゴシック" pitchFamily="-1" charset="-128"/>
              </a:rPr>
              <a:t>—</a:t>
            </a:r>
            <a:r>
              <a:rPr lang="en-US" altLang="en-US" dirty="0">
                <a:latin typeface="Arial" charset="0"/>
                <a:cs typeface="Arial" charset="0"/>
              </a:rPr>
              <a:t>review previous imaging reports pertinent to the ultrasound examination ordered. </a:t>
            </a:r>
            <a:endParaRPr lang="en-US" altLang="en-US" b="1" dirty="0">
              <a:latin typeface="Arial" charset="0"/>
              <a:cs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E3FB0E51-E4D9-4A77-9ACA-58CA8C78548A}" type="slidenum">
              <a:rPr lang="en-US" altLang="en-US"/>
              <a:pPr/>
              <a:t>59</a:t>
            </a:fld>
            <a:endParaRPr lang="en-US" altLang="en-US"/>
          </a:p>
        </p:txBody>
      </p:sp>
      <p:sp>
        <p:nvSpPr>
          <p:cNvPr id="476163" name="Rectangle 2"/>
          <p:cNvSpPr>
            <a:spLocks noGrp="1" noRot="1" noChangeAspect="1" noChangeArrowheads="1" noTextEdit="1"/>
          </p:cNvSpPr>
          <p:nvPr>
            <p:ph type="sldImg"/>
          </p:nvPr>
        </p:nvSpPr>
        <p:spPr>
          <a:ln/>
        </p:spPr>
      </p:sp>
      <p:sp>
        <p:nvSpPr>
          <p:cNvPr id="476164" name="Rectangle 3"/>
          <p:cNvSpPr>
            <a:spLocks noGrp="1" noChangeArrowheads="1"/>
          </p:cNvSpPr>
          <p:nvPr>
            <p:ph type="body" idx="1"/>
          </p:nvPr>
        </p:nvSpPr>
        <p:spPr>
          <a:noFill/>
        </p:spPr>
        <p:txBody>
          <a:bodyPr/>
          <a:lstStyle/>
          <a:p>
            <a:pPr eaLnBrk="1" hangingPunct="1"/>
            <a:r>
              <a:rPr lang="en-US" altLang="en-US">
                <a:latin typeface="Arial" charset="0"/>
                <a:cs typeface="Arial" charset="0"/>
              </a:rPr>
              <a:t>In lieu of a detailed history provided on the request form, this may be the only means of obtaining pertinent information for outpatient examinations.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C5F114BC-FBE1-4DB1-A8DE-83339123EB59}" type="slidenum">
              <a:rPr lang="en-US" altLang="en-US"/>
              <a:pPr/>
              <a:t>61</a:t>
            </a:fld>
            <a:endParaRPr lang="en-US" altLang="en-US"/>
          </a:p>
        </p:txBody>
      </p:sp>
      <p:sp>
        <p:nvSpPr>
          <p:cNvPr id="497667" name="Rectangle 2"/>
          <p:cNvSpPr>
            <a:spLocks noGrp="1" noRot="1" noChangeAspect="1" noChangeArrowheads="1" noTextEdit="1"/>
          </p:cNvSpPr>
          <p:nvPr>
            <p:ph type="sldImg"/>
          </p:nvPr>
        </p:nvSpPr>
        <p:spPr>
          <a:ln/>
        </p:spPr>
      </p:sp>
      <p:sp>
        <p:nvSpPr>
          <p:cNvPr id="497668" name="Rectangle 3"/>
          <p:cNvSpPr>
            <a:spLocks noGrp="1" noChangeArrowheads="1"/>
          </p:cNvSpPr>
          <p:nvPr>
            <p:ph type="body" idx="1"/>
          </p:nvPr>
        </p:nvSpPr>
        <p:spPr>
          <a:noFill/>
        </p:spPr>
        <p:txBody>
          <a:bodyPr/>
          <a:lstStyle/>
          <a:p>
            <a:pPr eaLnBrk="1" hangingPunct="1"/>
            <a:r>
              <a:rPr lang="en-US" altLang="en-US">
                <a:latin typeface="Arial" charset="0"/>
                <a:cs typeface="Arial" charset="0"/>
              </a:rPr>
              <a:t>Providing anything beyond that is not sensible, responsible, or legal, unless you are willing to assume the same liability that a physician does. By virtue of their education and training experience, only physicians can legally render a diagnosis. Physicians have the credentials to assume legal liability; sonographers do not.</a:t>
            </a:r>
          </a:p>
        </p:txBody>
      </p:sp>
    </p:spTree>
    <p:extLst>
      <p:ext uri="{BB962C8B-B14F-4D97-AF65-F5344CB8AC3E}">
        <p14:creationId xmlns:p14="http://schemas.microsoft.com/office/powerpoint/2010/main" val="2172138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495285FA-7279-4237-81AA-DD7246F45CAA}" type="slidenum">
              <a:rPr lang="en-US" altLang="en-US"/>
              <a:pPr/>
              <a:t>64</a:t>
            </a:fld>
            <a:endParaRPr lang="en-US" altLang="en-US"/>
          </a:p>
        </p:txBody>
      </p:sp>
      <p:sp>
        <p:nvSpPr>
          <p:cNvPr id="477187" name="Rectangle 2"/>
          <p:cNvSpPr>
            <a:spLocks noGrp="1" noRot="1" noChangeAspect="1" noChangeArrowheads="1" noTextEdit="1"/>
          </p:cNvSpPr>
          <p:nvPr>
            <p:ph type="sldImg"/>
          </p:nvPr>
        </p:nvSpPr>
        <p:spPr>
          <a:ln/>
        </p:spPr>
      </p:sp>
      <p:sp>
        <p:nvSpPr>
          <p:cNvPr id="477188" name="Rectangle 3"/>
          <p:cNvSpPr>
            <a:spLocks noGrp="1" noChangeArrowheads="1"/>
          </p:cNvSpPr>
          <p:nvPr>
            <p:ph type="body" idx="1"/>
          </p:nvPr>
        </p:nvSpPr>
        <p:spPr>
          <a:noFill/>
        </p:spPr>
        <p:txBody>
          <a:bodyPr/>
          <a:lstStyle/>
          <a:p>
            <a:pPr eaLnBrk="1" hangingPunct="1"/>
            <a:r>
              <a:rPr lang="en-US" altLang="en-US" dirty="0">
                <a:latin typeface="Arial" charset="0"/>
                <a:cs typeface="Arial" charset="0"/>
              </a:rPr>
              <a:t>Ultrasound examination data worksheets will vary from institution to institution.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3A4FEE23-D4EE-4F97-A473-8C3378B3F9BC}" type="slidenum">
              <a:rPr lang="en-US" altLang="en-US"/>
              <a:pPr/>
              <a:t>65</a:t>
            </a:fld>
            <a:endParaRPr lang="en-US" altLang="en-US"/>
          </a:p>
        </p:txBody>
      </p:sp>
      <p:sp>
        <p:nvSpPr>
          <p:cNvPr id="478211" name="Rectangle 2"/>
          <p:cNvSpPr>
            <a:spLocks noGrp="1" noRot="1" noChangeAspect="1" noChangeArrowheads="1" noTextEdit="1"/>
          </p:cNvSpPr>
          <p:nvPr>
            <p:ph type="sldImg"/>
          </p:nvPr>
        </p:nvSpPr>
        <p:spPr>
          <a:ln/>
        </p:spPr>
      </p:sp>
      <p:sp>
        <p:nvSpPr>
          <p:cNvPr id="478212" name="Rectangle 3"/>
          <p:cNvSpPr>
            <a:spLocks noGrp="1" noChangeArrowheads="1"/>
          </p:cNvSpPr>
          <p:nvPr>
            <p:ph type="body" idx="1"/>
          </p:nvPr>
        </p:nvSpPr>
        <p:spPr>
          <a:noFill/>
        </p:spPr>
        <p:txBody>
          <a:bodyPr/>
          <a:lstStyle/>
          <a:p>
            <a:pPr eaLnBrk="1" hangingPunct="1"/>
            <a:endParaRPr lang="en-US" altLang="en-US">
              <a:latin typeface="Arial" charset="0"/>
              <a:cs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F57552D3-D4F7-4C09-A471-C094DC5724C4}" type="slidenum">
              <a:rPr lang="en-US" altLang="en-US"/>
              <a:pPr/>
              <a:t>66</a:t>
            </a:fld>
            <a:endParaRPr lang="en-US" altLang="en-US"/>
          </a:p>
        </p:txBody>
      </p:sp>
      <p:sp>
        <p:nvSpPr>
          <p:cNvPr id="479235" name="Rectangle 2"/>
          <p:cNvSpPr>
            <a:spLocks noGrp="1" noRot="1" noChangeAspect="1" noChangeArrowheads="1" noTextEdit="1"/>
          </p:cNvSpPr>
          <p:nvPr>
            <p:ph type="sldImg"/>
          </p:nvPr>
        </p:nvSpPr>
        <p:spPr>
          <a:ln/>
        </p:spPr>
      </p:sp>
      <p:sp>
        <p:nvSpPr>
          <p:cNvPr id="479236" name="Rectangle 3"/>
          <p:cNvSpPr>
            <a:spLocks noGrp="1" noChangeArrowheads="1"/>
          </p:cNvSpPr>
          <p:nvPr>
            <p:ph type="body" idx="1"/>
          </p:nvPr>
        </p:nvSpPr>
        <p:spPr>
          <a:noFill/>
        </p:spPr>
        <p:txBody>
          <a:bodyPr/>
          <a:lstStyle/>
          <a:p>
            <a:pPr eaLnBrk="1" hangingPunct="1"/>
            <a:r>
              <a:rPr lang="en-US" altLang="en-US">
                <a:latin typeface="Arial" charset="0"/>
                <a:cs typeface="Arial" charset="0"/>
              </a:rPr>
              <a:t>Technical observations should be confined to descriptions of the ultrasound findings based on echo pattern and size. </a:t>
            </a:r>
          </a:p>
          <a:p>
            <a:pPr eaLnBrk="1" hangingPunct="1"/>
            <a:r>
              <a:rPr lang="en-US" altLang="en-US">
                <a:latin typeface="Arial" charset="0"/>
                <a:cs typeface="Arial" charset="0"/>
              </a:rPr>
              <a:t>Keep in mind that technical observations are a summary of a sonographer’s findings. </a:t>
            </a:r>
          </a:p>
          <a:p>
            <a:pPr eaLnBrk="1" hangingPunct="1"/>
            <a:endParaRPr lang="en-US" altLang="en-US">
              <a:latin typeface="Arial" charset="0"/>
              <a:cs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5C7DB2E5-5256-4DA7-9EAC-20ECA58EE3A1}" type="slidenum">
              <a:rPr lang="en-US" altLang="en-US"/>
              <a:pPr/>
              <a:t>67</a:t>
            </a:fld>
            <a:endParaRPr lang="en-US" altLang="en-US"/>
          </a:p>
        </p:txBody>
      </p:sp>
      <p:sp>
        <p:nvSpPr>
          <p:cNvPr id="480259" name="Rectangle 2"/>
          <p:cNvSpPr>
            <a:spLocks noGrp="1" noRot="1" noChangeAspect="1" noChangeArrowheads="1" noTextEdit="1"/>
          </p:cNvSpPr>
          <p:nvPr>
            <p:ph type="sldImg"/>
          </p:nvPr>
        </p:nvSpPr>
        <p:spPr>
          <a:ln/>
        </p:spPr>
      </p:sp>
      <p:sp>
        <p:nvSpPr>
          <p:cNvPr id="480260" name="Rectangle 3"/>
          <p:cNvSpPr>
            <a:spLocks noGrp="1" noChangeArrowheads="1"/>
          </p:cNvSpPr>
          <p:nvPr>
            <p:ph type="body" idx="1"/>
          </p:nvPr>
        </p:nvSpPr>
        <p:spPr>
          <a:noFill/>
        </p:spPr>
        <p:txBody>
          <a:bodyPr/>
          <a:lstStyle/>
          <a:p>
            <a:pPr eaLnBrk="1" hangingPunct="1"/>
            <a:r>
              <a:rPr lang="en-US" altLang="en-US" dirty="0">
                <a:latin typeface="Arial" charset="0"/>
                <a:cs typeface="Arial" charset="0"/>
              </a:rPr>
              <a:t>The final interpretation of the ultrasound examination will always be the responsibility of the physician. By virtue of education, training, and legal parameters, physicians exclusively render diagnoses.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D44B1427-5A6A-4857-B730-7EFE0237F30A}" type="slidenum">
              <a:rPr lang="en-US" altLang="en-US"/>
              <a:pPr/>
              <a:t>68</a:t>
            </a:fld>
            <a:endParaRPr lang="en-US" altLang="en-US"/>
          </a:p>
        </p:txBody>
      </p:sp>
      <p:sp>
        <p:nvSpPr>
          <p:cNvPr id="493571" name="Rectangle 2"/>
          <p:cNvSpPr>
            <a:spLocks noGrp="1" noRot="1" noChangeAspect="1" noChangeArrowheads="1" noTextEdit="1"/>
          </p:cNvSpPr>
          <p:nvPr>
            <p:ph type="sldImg"/>
          </p:nvPr>
        </p:nvSpPr>
        <p:spPr>
          <a:ln/>
        </p:spPr>
      </p:sp>
      <p:sp>
        <p:nvSpPr>
          <p:cNvPr id="493572" name="Rectangle 3"/>
          <p:cNvSpPr>
            <a:spLocks noGrp="1" noChangeArrowheads="1"/>
          </p:cNvSpPr>
          <p:nvPr>
            <p:ph type="body" idx="1"/>
          </p:nvPr>
        </p:nvSpPr>
        <p:spPr>
          <a:noFill/>
        </p:spPr>
        <p:txBody>
          <a:bodyPr/>
          <a:lstStyle/>
          <a:p>
            <a:pPr eaLnBrk="1" hangingPunct="1"/>
            <a:r>
              <a:rPr lang="en-US" altLang="en-US" dirty="0">
                <a:latin typeface="Arial" charset="0"/>
                <a:cs typeface="Arial" charset="0"/>
              </a:rPr>
              <a:t>A “patient-ready” ultrasound examination room should exemplify a well-equipped medical examination room; it must be clean and organized and convey a professional atmosphere. The room should be free of clutter and all personal items except modestly framed ultrasound training and registry certificates. The room requires an examination table or stretcher, a handled step stool, and the ultrasound machine. </a:t>
            </a:r>
          </a:p>
          <a:p>
            <a:pPr eaLnBrk="1" hangingPunct="1"/>
            <a:endParaRPr lang="en-US" altLang="en-US" dirty="0">
              <a:latin typeface="Arial" charset="0"/>
              <a:cs typeface="Arial" charset="0"/>
            </a:endParaRPr>
          </a:p>
          <a:p>
            <a:pPr eaLnBrk="1" hangingPunct="1"/>
            <a:r>
              <a:rPr lang="en-US" altLang="en-US" dirty="0">
                <a:latin typeface="Arial" charset="0"/>
                <a:cs typeface="Arial" charset="0"/>
              </a:rPr>
              <a:t>The ultrasound examination room should also be stocked at all times with the following items in Box 3-1.</a:t>
            </a:r>
          </a:p>
          <a:p>
            <a:pPr eaLnBrk="1" hangingPunct="1"/>
            <a:endParaRPr lang="en-US" altLang="en-US" dirty="0">
              <a:latin typeface="Arial" charset="0"/>
              <a:cs typeface="Arial" charset="0"/>
            </a:endParaRPr>
          </a:p>
          <a:p>
            <a:pPr eaLnBrk="1" hangingPunct="1"/>
            <a:endParaRPr lang="en-US" altLang="en-US" dirty="0">
              <a:latin typeface="Arial" charset="0"/>
              <a:cs typeface="Arial" charset="0"/>
            </a:endParaRPr>
          </a:p>
        </p:txBody>
      </p:sp>
    </p:spTree>
    <p:extLst>
      <p:ext uri="{BB962C8B-B14F-4D97-AF65-F5344CB8AC3E}">
        <p14:creationId xmlns:p14="http://schemas.microsoft.com/office/powerpoint/2010/main" val="8585459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4B729BBD-11EB-4913-AB9A-EEF9B6DD283E}" type="slidenum">
              <a:rPr lang="en-US" altLang="en-US"/>
              <a:pPr/>
              <a:t>69</a:t>
            </a:fld>
            <a:endParaRPr lang="en-US" altLang="en-US"/>
          </a:p>
        </p:txBody>
      </p:sp>
      <p:sp>
        <p:nvSpPr>
          <p:cNvPr id="494595" name="Rectangle 2"/>
          <p:cNvSpPr>
            <a:spLocks noGrp="1" noRot="1" noChangeAspect="1" noChangeArrowheads="1" noTextEdit="1"/>
          </p:cNvSpPr>
          <p:nvPr>
            <p:ph type="sldImg"/>
          </p:nvPr>
        </p:nvSpPr>
        <p:spPr>
          <a:ln/>
        </p:spPr>
      </p:sp>
      <p:sp>
        <p:nvSpPr>
          <p:cNvPr id="494596" name="Rectangle 3"/>
          <p:cNvSpPr>
            <a:spLocks noGrp="1" noChangeArrowheads="1"/>
          </p:cNvSpPr>
          <p:nvPr>
            <p:ph type="body" idx="1"/>
          </p:nvPr>
        </p:nvSpPr>
        <p:spPr>
          <a:noFill/>
        </p:spPr>
        <p:txBody>
          <a:bodyPr/>
          <a:lstStyle/>
          <a:p>
            <a:pPr eaLnBrk="1" hangingPunct="1"/>
            <a:endParaRPr lang="en-US" altLang="en-US">
              <a:latin typeface="Arial" charset="0"/>
              <a:cs typeface="Arial" charset="0"/>
            </a:endParaRPr>
          </a:p>
        </p:txBody>
      </p:sp>
    </p:spTree>
    <p:extLst>
      <p:ext uri="{BB962C8B-B14F-4D97-AF65-F5344CB8AC3E}">
        <p14:creationId xmlns:p14="http://schemas.microsoft.com/office/powerpoint/2010/main" val="39677248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7"/>
          <p:cNvSpPr>
            <a:spLocks noGrp="1" noChangeArrowheads="1"/>
          </p:cNvSpPr>
          <p:nvPr>
            <p:ph type="sldNum" sz="quarter" idx="5"/>
          </p:nvPr>
        </p:nvSpPr>
        <p:spPr>
          <a:noFill/>
        </p:spPr>
        <p:txBody>
          <a:bodyPr/>
          <a:lstStyle>
            <a:lvl1pPr>
              <a:defRPr>
                <a:solidFill>
                  <a:schemeClr val="tx1"/>
                </a:solidFill>
                <a:latin typeface="Arial" charset="0"/>
                <a:cs typeface="Arial" charset="0"/>
              </a:defRPr>
            </a:lvl1pPr>
            <a:lvl2pPr marL="742909" indent="-285734">
              <a:defRPr>
                <a:solidFill>
                  <a:schemeClr val="tx1"/>
                </a:solidFill>
                <a:latin typeface="Arial" charset="0"/>
                <a:cs typeface="Arial" charset="0"/>
              </a:defRPr>
            </a:lvl2pPr>
            <a:lvl3pPr marL="1142937" indent="-228587">
              <a:defRPr>
                <a:solidFill>
                  <a:schemeClr val="tx1"/>
                </a:solidFill>
                <a:latin typeface="Arial" charset="0"/>
                <a:cs typeface="Arial" charset="0"/>
              </a:defRPr>
            </a:lvl3pPr>
            <a:lvl4pPr marL="1600112" indent="-228587">
              <a:defRPr>
                <a:solidFill>
                  <a:schemeClr val="tx1"/>
                </a:solidFill>
                <a:latin typeface="Arial" charset="0"/>
                <a:cs typeface="Arial" charset="0"/>
              </a:defRPr>
            </a:lvl4pPr>
            <a:lvl5pPr marL="2057287" indent="-228587">
              <a:defRPr>
                <a:solidFill>
                  <a:schemeClr val="tx1"/>
                </a:solidFill>
                <a:latin typeface="Arial" charset="0"/>
                <a:cs typeface="Arial" charset="0"/>
              </a:defRPr>
            </a:lvl5pPr>
            <a:lvl6pPr marL="2514461" indent="-228587" eaLnBrk="0" fontAlgn="base" hangingPunct="0">
              <a:spcBef>
                <a:spcPct val="0"/>
              </a:spcBef>
              <a:spcAft>
                <a:spcPct val="0"/>
              </a:spcAft>
              <a:defRPr>
                <a:solidFill>
                  <a:schemeClr val="tx1"/>
                </a:solidFill>
                <a:latin typeface="Arial" charset="0"/>
                <a:cs typeface="Arial" charset="0"/>
              </a:defRPr>
            </a:lvl6pPr>
            <a:lvl7pPr marL="2971635" indent="-228587" eaLnBrk="0" fontAlgn="base" hangingPunct="0">
              <a:spcBef>
                <a:spcPct val="0"/>
              </a:spcBef>
              <a:spcAft>
                <a:spcPct val="0"/>
              </a:spcAft>
              <a:defRPr>
                <a:solidFill>
                  <a:schemeClr val="tx1"/>
                </a:solidFill>
                <a:latin typeface="Arial" charset="0"/>
                <a:cs typeface="Arial" charset="0"/>
              </a:defRPr>
            </a:lvl7pPr>
            <a:lvl8pPr marL="3428810" indent="-228587" eaLnBrk="0" fontAlgn="base" hangingPunct="0">
              <a:spcBef>
                <a:spcPct val="0"/>
              </a:spcBef>
              <a:spcAft>
                <a:spcPct val="0"/>
              </a:spcAft>
              <a:defRPr>
                <a:solidFill>
                  <a:schemeClr val="tx1"/>
                </a:solidFill>
                <a:latin typeface="Arial" charset="0"/>
                <a:cs typeface="Arial" charset="0"/>
              </a:defRPr>
            </a:lvl8pPr>
            <a:lvl9pPr marL="3885985" indent="-228587" eaLnBrk="0" fontAlgn="base" hangingPunct="0">
              <a:spcBef>
                <a:spcPct val="0"/>
              </a:spcBef>
              <a:spcAft>
                <a:spcPct val="0"/>
              </a:spcAft>
              <a:defRPr>
                <a:solidFill>
                  <a:schemeClr val="tx1"/>
                </a:solidFill>
                <a:latin typeface="Arial" charset="0"/>
                <a:cs typeface="Arial" charset="0"/>
              </a:defRPr>
            </a:lvl9pPr>
          </a:lstStyle>
          <a:p>
            <a:fld id="{947E8EE9-9C6A-4215-8A84-8297E12EDBCD}" type="slidenum">
              <a:rPr lang="en-US" altLang="en-US"/>
              <a:pPr/>
              <a:t>71</a:t>
            </a:fld>
            <a:endParaRPr lang="en-US" altLang="en-US"/>
          </a:p>
        </p:txBody>
      </p:sp>
      <p:sp>
        <p:nvSpPr>
          <p:cNvPr id="495619" name="Rectangle 2"/>
          <p:cNvSpPr>
            <a:spLocks noGrp="1" noRot="1" noChangeAspect="1" noChangeArrowheads="1" noTextEdit="1"/>
          </p:cNvSpPr>
          <p:nvPr>
            <p:ph type="sldImg"/>
          </p:nvPr>
        </p:nvSpPr>
        <p:spPr>
          <a:ln/>
        </p:spPr>
      </p:sp>
      <p:sp>
        <p:nvSpPr>
          <p:cNvPr id="495620" name="Rectangle 3"/>
          <p:cNvSpPr>
            <a:spLocks noGrp="1" noChangeArrowheads="1"/>
          </p:cNvSpPr>
          <p:nvPr>
            <p:ph type="body" idx="1"/>
          </p:nvPr>
        </p:nvSpPr>
        <p:spPr>
          <a:noFill/>
        </p:spPr>
        <p:txBody>
          <a:bodyPr/>
          <a:lstStyle/>
          <a:p>
            <a:pPr eaLnBrk="1" hangingPunct="1"/>
            <a:endParaRPr lang="en-US" altLang="en-US">
              <a:latin typeface="Arial" charset="0"/>
              <a:cs typeface="Arial" charset="0"/>
            </a:endParaRPr>
          </a:p>
        </p:txBody>
      </p:sp>
    </p:spTree>
    <p:extLst>
      <p:ext uri="{BB962C8B-B14F-4D97-AF65-F5344CB8AC3E}">
        <p14:creationId xmlns:p14="http://schemas.microsoft.com/office/powerpoint/2010/main" val="3968884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9F6D02-EF3F-4B18-A602-447D92E12EB1}"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B24308-5445-4F39-BA0E-3EE1E56A060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9F6D02-EF3F-4B18-A602-447D92E12EB1}" type="datetimeFigureOut">
              <a:rPr lang="en-US" smtClean="0"/>
              <a:pPr/>
              <a:t>11/18/25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B24308-5445-4F39-BA0E-3EE1E56A060B}" type="slidenum">
              <a:rPr lang="en-US" smtClean="0"/>
              <a:pPr/>
              <a:t>‹#›</a:t>
            </a:fld>
            <a:endParaRPr lang="en-US"/>
          </a:p>
        </p:txBody>
      </p:sp>
    </p:spTree>
    <p:extLst>
      <p:ext uri="{BB962C8B-B14F-4D97-AF65-F5344CB8AC3E}">
        <p14:creationId xmlns:p14="http://schemas.microsoft.com/office/powerpoint/2010/main" val="150630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9F6D02-EF3F-4B18-A602-447D92E12EB1}" type="datetimeFigureOut">
              <a:rPr lang="en-US" smtClean="0"/>
              <a:pPr/>
              <a:t>11/18/25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B24308-5445-4F39-BA0E-3EE1E56A060B}" type="slidenum">
              <a:rPr lang="en-US" smtClean="0"/>
              <a:pPr/>
              <a:t>‹#›</a:t>
            </a:fld>
            <a:endParaRPr lang="en-US"/>
          </a:p>
        </p:txBody>
      </p:sp>
    </p:spTree>
    <p:extLst>
      <p:ext uri="{BB962C8B-B14F-4D97-AF65-F5344CB8AC3E}">
        <p14:creationId xmlns:p14="http://schemas.microsoft.com/office/powerpoint/2010/main" val="176438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9F6D02-EF3F-4B18-A602-447D92E12EB1}"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B24308-5445-4F39-BA0E-3EE1E56A060B}" type="slidenum">
              <a:rPr lang="en-US" smtClean="0"/>
              <a:pPr/>
              <a:t>‹#›</a:t>
            </a:fld>
            <a:endParaRPr lang="en-US"/>
          </a:p>
        </p:txBody>
      </p:sp>
    </p:spTree>
    <p:extLst>
      <p:ext uri="{BB962C8B-B14F-4D97-AF65-F5344CB8AC3E}">
        <p14:creationId xmlns:p14="http://schemas.microsoft.com/office/powerpoint/2010/main" val="1336091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9F6D02-EF3F-4B18-A602-447D92E12EB1}" type="datetimeFigureOut">
              <a:rPr lang="en-US" smtClean="0"/>
              <a:pPr/>
              <a:t>11/18/25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B24308-5445-4F39-BA0E-3EE1E56A060B}" type="slidenum">
              <a:rPr lang="en-US" smtClean="0"/>
              <a:pPr/>
              <a:t>‹#›</a:t>
            </a:fld>
            <a:endParaRPr lang="en-US"/>
          </a:p>
        </p:txBody>
      </p:sp>
    </p:spTree>
    <p:extLst>
      <p:ext uri="{BB962C8B-B14F-4D97-AF65-F5344CB8AC3E}">
        <p14:creationId xmlns:p14="http://schemas.microsoft.com/office/powerpoint/2010/main" val="3036085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A0408-F0B0-DF7C-0FE9-A956E63FB22E}"/>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8EB16FF-4B8C-7651-10CC-775A6F94EF4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04209B7-1786-3E0C-A624-AB9DA9301B13}"/>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5" name="Footer Placeholder 4">
            <a:extLst>
              <a:ext uri="{FF2B5EF4-FFF2-40B4-BE49-F238E27FC236}">
                <a16:creationId xmlns:a16="http://schemas.microsoft.com/office/drawing/2014/main" id="{F39D6D62-B340-15F8-D0CD-63061AC9F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806BF-452E-4D4B-4683-FA0CA4E52933}"/>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1282822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30BAC-2B49-61A5-DE16-C40379E85B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99D4E8-0239-48C1-F601-F91F54B875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181EB5-224B-A35D-36F5-6241A74894E1}"/>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5" name="Footer Placeholder 4">
            <a:extLst>
              <a:ext uri="{FF2B5EF4-FFF2-40B4-BE49-F238E27FC236}">
                <a16:creationId xmlns:a16="http://schemas.microsoft.com/office/drawing/2014/main" id="{80D10486-C5BB-2688-88CA-C6084DE816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B36E53-B7AE-A6C7-13C6-F99A3C6ABACD}"/>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215663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97206-D2F5-A627-3CDC-35F5772A1D7F}"/>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8E62C4E0-0CFC-D650-18A8-DD0E7FE97073}"/>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2A20AC-B546-A561-05EC-B555F65C71D9}"/>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5" name="Footer Placeholder 4">
            <a:extLst>
              <a:ext uri="{FF2B5EF4-FFF2-40B4-BE49-F238E27FC236}">
                <a16:creationId xmlns:a16="http://schemas.microsoft.com/office/drawing/2014/main" id="{046E866A-DC2F-DD0B-363B-C19FA114BF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80C031-8ACC-D8CA-10B9-060086D5C7E8}"/>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2054059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1CB71-8FC4-4841-C281-96D97FE409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BFD77B-7FD9-5AEF-41D2-B13EDCACA37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244AB4-99F9-ACD6-3EA2-F32119D2D0E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2275B5-029F-67B3-3000-4F45AE77FC9A}"/>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6" name="Footer Placeholder 5">
            <a:extLst>
              <a:ext uri="{FF2B5EF4-FFF2-40B4-BE49-F238E27FC236}">
                <a16:creationId xmlns:a16="http://schemas.microsoft.com/office/drawing/2014/main" id="{485C5B4A-7D9A-FFD0-1877-65E3AFF87E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757254-3A17-4870-48A5-61D175F673CA}"/>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2781447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BBBA-0591-9B1E-A8BB-3CABEA960299}"/>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CEDE52-7DF2-3C43-D138-3CAD6869C6D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C1E2AAF-0D20-692C-E6BC-B728FF070785}"/>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F1E167-F5D2-9AA7-1980-0A60E645567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CA4D3A9-16B2-ECBD-9A93-2D6AB84D8BA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948FC4-4D90-832B-B0E5-FD0A38EE33EC}"/>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8" name="Footer Placeholder 7">
            <a:extLst>
              <a:ext uri="{FF2B5EF4-FFF2-40B4-BE49-F238E27FC236}">
                <a16:creationId xmlns:a16="http://schemas.microsoft.com/office/drawing/2014/main" id="{EA488429-A900-932A-CA2E-5E06C549F3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3CC43C-CC1C-4EF5-73CE-860BA4FB3BE3}"/>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1395809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A03BF-181E-B37C-5458-839FF0E08C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2A90CD-FA11-AE96-109B-4DB1398F3551}"/>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4" name="Footer Placeholder 3">
            <a:extLst>
              <a:ext uri="{FF2B5EF4-FFF2-40B4-BE49-F238E27FC236}">
                <a16:creationId xmlns:a16="http://schemas.microsoft.com/office/drawing/2014/main" id="{3D485804-AB8D-FC80-CFD4-18D6695332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760BFD-29F5-5E16-F8DD-1335D058DBAE}"/>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3437949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4D4863-5125-AD28-5EBB-4D2AB4AC2B8E}"/>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3" name="Footer Placeholder 2">
            <a:extLst>
              <a:ext uri="{FF2B5EF4-FFF2-40B4-BE49-F238E27FC236}">
                <a16:creationId xmlns:a16="http://schemas.microsoft.com/office/drawing/2014/main" id="{85462481-73A6-CCF1-2922-51809CE080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30EB0F-40E5-1212-3DD8-BB9FB95777E0}"/>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34778972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C286C-15C8-FA2C-88FB-C42D8FA84E3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608455F-150E-FA00-3996-699C9C1161A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C0C537-AFBA-6B6C-613B-67A56911F6E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37D268A-F4F0-8220-11E2-19E42C6574AB}"/>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6" name="Footer Placeholder 5">
            <a:extLst>
              <a:ext uri="{FF2B5EF4-FFF2-40B4-BE49-F238E27FC236}">
                <a16:creationId xmlns:a16="http://schemas.microsoft.com/office/drawing/2014/main" id="{220403F4-EA42-B12A-65B1-A75BC046ED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DC9F6B-C2B2-3089-8139-636F52C9C832}"/>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4057061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8C7EA-853C-34AF-CA83-2F2F91743BD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3050D23-65ED-A6D4-BE33-5195C9563DB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673BC6A-487D-BEC2-E8A1-779556E77BF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6F81873-546F-57B3-90A8-6630C073DE13}"/>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6" name="Footer Placeholder 5">
            <a:extLst>
              <a:ext uri="{FF2B5EF4-FFF2-40B4-BE49-F238E27FC236}">
                <a16:creationId xmlns:a16="http://schemas.microsoft.com/office/drawing/2014/main" id="{6815DAD1-BBFE-5323-A509-030C41BD1D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60907A-1D18-AB4B-F920-FF5F28ABC0D7}"/>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4095978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64523-DE45-BE91-C17E-07692AC94E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20E4A6-5ED3-A0E7-C7D1-DEBF650704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433C2B-CCEC-655D-1709-648C15090B2F}"/>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5" name="Footer Placeholder 4">
            <a:extLst>
              <a:ext uri="{FF2B5EF4-FFF2-40B4-BE49-F238E27FC236}">
                <a16:creationId xmlns:a16="http://schemas.microsoft.com/office/drawing/2014/main" id="{86C8E2A5-3A1A-F549-BD6D-A2926DDCAC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640BBB-2FE6-DF72-B170-280587C28B49}"/>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12804305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DB7797-F12D-089A-2CA4-2E1004BE0CF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C58D90-8848-EBC1-0ACB-0EA3EFCFA4A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FE6A3A-FB78-0195-72F5-6106AED64C54}"/>
              </a:ext>
            </a:extLst>
          </p:cNvPr>
          <p:cNvSpPr>
            <a:spLocks noGrp="1"/>
          </p:cNvSpPr>
          <p:nvPr>
            <p:ph type="dt" sz="half" idx="10"/>
          </p:nvPr>
        </p:nvSpPr>
        <p:spPr/>
        <p:txBody>
          <a:bodyPr/>
          <a:lstStyle/>
          <a:p>
            <a:fld id="{C95E629B-0E5C-4C3C-8870-1E0D01DFFBF1}" type="datetimeFigureOut">
              <a:rPr lang="en-US" smtClean="0"/>
              <a:t>11/18/25</a:t>
            </a:fld>
            <a:endParaRPr lang="en-US"/>
          </a:p>
        </p:txBody>
      </p:sp>
      <p:sp>
        <p:nvSpPr>
          <p:cNvPr id="5" name="Footer Placeholder 4">
            <a:extLst>
              <a:ext uri="{FF2B5EF4-FFF2-40B4-BE49-F238E27FC236}">
                <a16:creationId xmlns:a16="http://schemas.microsoft.com/office/drawing/2014/main" id="{3893E89A-D4A3-96D7-4A9D-93D7AC9A65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B8051-71BB-4956-304D-1517A5F2C6AF}"/>
              </a:ext>
            </a:extLst>
          </p:cNvPr>
          <p:cNvSpPr>
            <a:spLocks noGrp="1"/>
          </p:cNvSpPr>
          <p:nvPr>
            <p:ph type="sldNum" sz="quarter" idx="12"/>
          </p:nvPr>
        </p:nvSpPr>
        <p:spPr/>
        <p:txBody>
          <a:bodyPr/>
          <a:lstStyle/>
          <a:p>
            <a:fld id="{08F7F43B-13C5-48CA-9352-87B184E2CAE9}" type="slidenum">
              <a:rPr lang="en-US" smtClean="0"/>
              <a:t>‹#›</a:t>
            </a:fld>
            <a:endParaRPr lang="en-US"/>
          </a:p>
        </p:txBody>
      </p:sp>
    </p:spTree>
    <p:extLst>
      <p:ext uri="{BB962C8B-B14F-4D97-AF65-F5344CB8AC3E}">
        <p14:creationId xmlns:p14="http://schemas.microsoft.com/office/powerpoint/2010/main" val="71440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9F6D02-EF3F-4B18-A602-447D92E12EB1}" type="datetimeFigureOut">
              <a:rPr lang="en-US" smtClean="0"/>
              <a:pPr/>
              <a:t>11/18/25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B24308-5445-4F39-BA0E-3EE1E56A060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CAEA24-B072-6456-0F79-94D92105DA25}"/>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8A75FD-8CB1-0ABD-3DA4-6A1DF15260C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A3B62C-DA4B-FD76-B3D8-2C4AB8AA850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C95E629B-0E5C-4C3C-8870-1E0D01DFFBF1}" type="datetimeFigureOut">
              <a:rPr lang="en-US" smtClean="0"/>
              <a:t>11/18/25</a:t>
            </a:fld>
            <a:endParaRPr lang="en-US"/>
          </a:p>
        </p:txBody>
      </p:sp>
      <p:sp>
        <p:nvSpPr>
          <p:cNvPr id="5" name="Footer Placeholder 4">
            <a:extLst>
              <a:ext uri="{FF2B5EF4-FFF2-40B4-BE49-F238E27FC236}">
                <a16:creationId xmlns:a16="http://schemas.microsoft.com/office/drawing/2014/main" id="{97084D89-82E4-A663-4EA5-8BA3F6EF17A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EA335D-BD0E-DE4C-57C6-C7A20845184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08F7F43B-13C5-48CA-9352-87B184E2CAE9}" type="slidenum">
              <a:rPr lang="en-US" smtClean="0"/>
              <a:t>‹#›</a:t>
            </a:fld>
            <a:endParaRPr lang="en-US"/>
          </a:p>
        </p:txBody>
      </p:sp>
    </p:spTree>
    <p:extLst>
      <p:ext uri="{BB962C8B-B14F-4D97-AF65-F5344CB8AC3E}">
        <p14:creationId xmlns:p14="http://schemas.microsoft.com/office/powerpoint/2010/main" val="1086961344"/>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DMS Profession</a:t>
            </a:r>
          </a:p>
        </p:txBody>
      </p:sp>
    </p:spTree>
    <p:extLst>
      <p:ext uri="{BB962C8B-B14F-4D97-AF65-F5344CB8AC3E}">
        <p14:creationId xmlns:p14="http://schemas.microsoft.com/office/powerpoint/2010/main" val="1530365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pPr algn="ctr"/>
            <a:r>
              <a:rPr lang="en-US" sz="3200" b="1" dirty="0">
                <a:solidFill>
                  <a:srgbClr val="FF0000"/>
                </a:solidFill>
              </a:rPr>
              <a:t>DEFINITION OF THE PROFESSION</a:t>
            </a:r>
          </a:p>
        </p:txBody>
      </p:sp>
      <p:sp>
        <p:nvSpPr>
          <p:cNvPr id="3" name="Content Placeholder 2"/>
          <p:cNvSpPr>
            <a:spLocks noGrp="1"/>
          </p:cNvSpPr>
          <p:nvPr>
            <p:ph idx="1"/>
          </p:nvPr>
        </p:nvSpPr>
        <p:spPr>
          <a:xfrm>
            <a:off x="457200" y="1066800"/>
            <a:ext cx="8229600" cy="5334000"/>
          </a:xfrm>
        </p:spPr>
        <p:txBody>
          <a:bodyPr>
            <a:normAutofit/>
          </a:bodyPr>
          <a:lstStyle/>
          <a:p>
            <a:r>
              <a:rPr lang="en-US" sz="2800" dirty="0"/>
              <a:t>The diagnostic medical sonographer is an individual who provides patient care services using ultrasound and related diagnostic procedures. </a:t>
            </a:r>
          </a:p>
          <a:p>
            <a:r>
              <a:rPr lang="en-US" sz="2800" dirty="0"/>
              <a:t>Must be educationally prepared and clinically competent as a prerequisite to professional practice .</a:t>
            </a:r>
          </a:p>
          <a:p>
            <a:r>
              <a:rPr lang="en-US" sz="2800" dirty="0"/>
              <a:t> Demonstration and maintenance of competency through certification by a nationally recognized sonography credentialing organization is the standard of practice in sonography, and maintenance of certification in all areas of practice is endorsed.</a:t>
            </a:r>
          </a:p>
        </p:txBody>
      </p:sp>
    </p:spTree>
    <p:extLst>
      <p:ext uri="{BB962C8B-B14F-4D97-AF65-F5344CB8AC3E}">
        <p14:creationId xmlns:p14="http://schemas.microsoft.com/office/powerpoint/2010/main" val="398762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solidFill>
                  <a:srgbClr val="FF0000"/>
                </a:solidFill>
              </a:rPr>
              <a:t>DEFINITION OF THE PROFESSION</a:t>
            </a:r>
            <a:endParaRPr lang="en-US" dirty="0"/>
          </a:p>
        </p:txBody>
      </p:sp>
      <p:sp>
        <p:nvSpPr>
          <p:cNvPr id="3" name="Content Placeholder 2"/>
          <p:cNvSpPr>
            <a:spLocks noGrp="1"/>
          </p:cNvSpPr>
          <p:nvPr>
            <p:ph idx="1"/>
          </p:nvPr>
        </p:nvSpPr>
        <p:spPr>
          <a:xfrm>
            <a:off x="457200" y="1219200"/>
            <a:ext cx="8229600" cy="4906963"/>
          </a:xfrm>
        </p:spPr>
        <p:txBody>
          <a:bodyPr>
            <a:normAutofit lnSpcReduction="10000"/>
          </a:bodyPr>
          <a:lstStyle/>
          <a:p>
            <a:r>
              <a:rPr lang="en-US" dirty="0"/>
              <a:t>Functions as a delegated agent of the physician; and does not practice independently.</a:t>
            </a:r>
          </a:p>
          <a:p>
            <a:r>
              <a:rPr lang="en-US" dirty="0"/>
              <a:t> Committed to enhanced patient care and continuous quality improvement that increases knowledge and technical competence.</a:t>
            </a:r>
          </a:p>
          <a:p>
            <a:r>
              <a:rPr lang="en-US" dirty="0"/>
              <a:t>Use independent, professional, ethical judgment, and critical thinking to safely perform diagnostic sonographic procedures. </a:t>
            </a:r>
          </a:p>
          <a:p>
            <a:endParaRPr lang="en-US" dirty="0"/>
          </a:p>
        </p:txBody>
      </p:sp>
    </p:spTree>
    <p:extLst>
      <p:ext uri="{BB962C8B-B14F-4D97-AF65-F5344CB8AC3E}">
        <p14:creationId xmlns:p14="http://schemas.microsoft.com/office/powerpoint/2010/main" val="3757400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ULTRASOUND</a:t>
            </a:r>
          </a:p>
        </p:txBody>
      </p:sp>
      <p:sp>
        <p:nvSpPr>
          <p:cNvPr id="3" name="Content Placeholder 2"/>
          <p:cNvSpPr>
            <a:spLocks noGrp="1"/>
          </p:cNvSpPr>
          <p:nvPr>
            <p:ph idx="1"/>
          </p:nvPr>
        </p:nvSpPr>
        <p:spPr/>
        <p:txBody>
          <a:bodyPr>
            <a:normAutofit fontScale="92500" lnSpcReduction="20000"/>
          </a:bodyPr>
          <a:lstStyle/>
          <a:p>
            <a:pPr>
              <a:defRPr/>
            </a:pPr>
            <a:r>
              <a:rPr lang="en-US" dirty="0">
                <a:ea typeface="ＭＳ Ｐゴシック" charset="0"/>
                <a:sym typeface="Wingdings" pitchFamily="2" charset="2"/>
              </a:rPr>
              <a:t>Is a sound frequencies beyond(ultra) the range of human hearing (Frequencies greater 20 KHz)</a:t>
            </a:r>
          </a:p>
          <a:p>
            <a:pPr>
              <a:defRPr/>
            </a:pPr>
            <a:r>
              <a:rPr lang="en-US" dirty="0">
                <a:ea typeface="ＭＳ Ｐゴシック" charset="0"/>
                <a:sym typeface="Wingdings" pitchFamily="2" charset="2"/>
              </a:rPr>
              <a:t>Sound  frequencies between the range of 20hz to 20 KHZ human can hear.</a:t>
            </a:r>
          </a:p>
          <a:p>
            <a:pPr>
              <a:defRPr/>
            </a:pPr>
            <a:r>
              <a:rPr lang="en-US" b="1" dirty="0"/>
              <a:t>Ultrasound</a:t>
            </a:r>
            <a:r>
              <a:rPr lang="en-US" dirty="0"/>
              <a:t> is safe and painless, produces and take pictures of the inside of the body using the returning sound waves. </a:t>
            </a:r>
          </a:p>
          <a:p>
            <a:pPr>
              <a:defRPr/>
            </a:pPr>
            <a:r>
              <a:rPr lang="en-US" b="1" dirty="0"/>
              <a:t>Ultrasound</a:t>
            </a:r>
            <a:r>
              <a:rPr lang="en-US" dirty="0"/>
              <a:t> imaging, also called </a:t>
            </a:r>
            <a:r>
              <a:rPr lang="en-US" b="1" dirty="0"/>
              <a:t>ultrasound</a:t>
            </a:r>
            <a:r>
              <a:rPr lang="en-US" dirty="0"/>
              <a:t> scanning or sonography, involves the use of a small transducer (probe) and </a:t>
            </a:r>
            <a:r>
              <a:rPr lang="en-US" b="1" dirty="0"/>
              <a:t>ultrasound</a:t>
            </a:r>
            <a:r>
              <a:rPr lang="en-US" dirty="0"/>
              <a:t> gel placed directly on the skin.</a:t>
            </a:r>
            <a:endParaRPr lang="en-US" dirty="0">
              <a:ea typeface="ＭＳ Ｐゴシック" charset="0"/>
            </a:endParaRPr>
          </a:p>
        </p:txBody>
      </p:sp>
    </p:spTree>
    <p:extLst>
      <p:ext uri="{BB962C8B-B14F-4D97-AF65-F5344CB8AC3E}">
        <p14:creationId xmlns:p14="http://schemas.microsoft.com/office/powerpoint/2010/main" val="2947684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Grp="1" noChangeArrowheads="1"/>
          </p:cNvSpPr>
          <p:nvPr>
            <p:ph type="sldNum" sz="quarter" idx="11"/>
          </p:nvPr>
        </p:nvSpPr>
        <p:spPr/>
        <p:txBody>
          <a:bodyPr/>
          <a:lstStyle/>
          <a:p>
            <a:pPr>
              <a:defRPr/>
            </a:pPr>
            <a:fld id="{0110304D-352E-4AB7-A7C5-FA7D909FCAAF}" type="slidenum">
              <a:rPr lang="en-US"/>
              <a:pPr>
                <a:defRPr/>
              </a:pPr>
              <a:t>5</a:t>
            </a:fld>
            <a:endParaRPr lang="en-US"/>
          </a:p>
        </p:txBody>
      </p:sp>
      <p:sp>
        <p:nvSpPr>
          <p:cNvPr id="9218" name="Rectangle 2"/>
          <p:cNvSpPr>
            <a:spLocks noGrp="1" noChangeArrowheads="1"/>
          </p:cNvSpPr>
          <p:nvPr>
            <p:ph type="title" idx="4294967295"/>
          </p:nvPr>
        </p:nvSpPr>
        <p:spPr>
          <a:xfrm>
            <a:off x="457200" y="274638"/>
            <a:ext cx="8229600" cy="563562"/>
          </a:xfrm>
        </p:spPr>
        <p:txBody>
          <a:bodyPr>
            <a:normAutofit fontScale="90000"/>
          </a:bodyPr>
          <a:lstStyle/>
          <a:p>
            <a:pPr>
              <a:defRPr/>
            </a:pPr>
            <a:r>
              <a:rPr lang="en-US" dirty="0">
                <a:solidFill>
                  <a:srgbClr val="FF0000"/>
                </a:solidFill>
              </a:rPr>
              <a:t>Terminology</a:t>
            </a:r>
          </a:p>
        </p:txBody>
      </p:sp>
      <p:sp>
        <p:nvSpPr>
          <p:cNvPr id="9219" name="Rectangle 3"/>
          <p:cNvSpPr>
            <a:spLocks noGrp="1" noChangeArrowheads="1"/>
          </p:cNvSpPr>
          <p:nvPr>
            <p:ph type="body" idx="4294967295"/>
          </p:nvPr>
        </p:nvSpPr>
        <p:spPr>
          <a:xfrm>
            <a:off x="228600" y="1066800"/>
            <a:ext cx="8458200" cy="5334000"/>
          </a:xfrm>
        </p:spPr>
        <p:txBody>
          <a:bodyPr>
            <a:normAutofit/>
          </a:bodyPr>
          <a:lstStyle/>
          <a:p>
            <a:pPr>
              <a:spcAft>
                <a:spcPct val="0"/>
              </a:spcAft>
              <a:defRPr/>
            </a:pPr>
            <a:r>
              <a:rPr lang="en-US" dirty="0" err="1">
                <a:solidFill>
                  <a:srgbClr val="FF0000"/>
                </a:solidFill>
              </a:rPr>
              <a:t>Sonographer</a:t>
            </a:r>
            <a:r>
              <a:rPr lang="en-US" dirty="0"/>
              <a:t>: Allied health professional.</a:t>
            </a:r>
            <a:br>
              <a:rPr lang="en-US" dirty="0">
                <a:ea typeface="MS PGothic" pitchFamily="34" charset="-128"/>
              </a:rPr>
            </a:br>
            <a:r>
              <a:rPr lang="en-US" sz="2400" dirty="0">
                <a:ea typeface="MS PGothic" pitchFamily="34" charset="-128"/>
              </a:rPr>
              <a:t>A sonographer, or ultrasonographer, is a healthcare professional, frequently a radiographer but may be any healthcare professional with the appropriate training, who  has:</a:t>
            </a:r>
            <a:endParaRPr lang="en-US" sz="2400" dirty="0"/>
          </a:p>
          <a:p>
            <a:pPr>
              <a:spcAft>
                <a:spcPct val="0"/>
              </a:spcAft>
              <a:defRPr/>
            </a:pPr>
            <a:r>
              <a:rPr lang="en-US" sz="2400" dirty="0"/>
              <a:t>Specialized education in ultrasound</a:t>
            </a:r>
          </a:p>
          <a:p>
            <a:pPr>
              <a:spcAft>
                <a:spcPct val="0"/>
              </a:spcAft>
              <a:defRPr/>
            </a:pPr>
            <a:r>
              <a:rPr lang="en-US" sz="2400" dirty="0"/>
              <a:t>Successful completion of national boards Registry of Diagnostic Medical </a:t>
            </a:r>
            <a:r>
              <a:rPr lang="en-US" sz="2400" dirty="0" err="1"/>
              <a:t>Sonography</a:t>
            </a:r>
            <a:r>
              <a:rPr lang="en-US" sz="2400" dirty="0"/>
              <a:t>(ARDMS)ARDMS. ​​​​​​​​​​The American Registry for Diagnostic Medical Sonography, administers examinations and awards accreditation to those who  pass.</a:t>
            </a:r>
            <a:endParaRPr lang="en-US" dirty="0"/>
          </a:p>
        </p:txBody>
      </p:sp>
      <p:pic>
        <p:nvPicPr>
          <p:cNvPr id="5122" name="Picture 2" descr="C:\Users\User\Desktop\download.jpg"/>
          <p:cNvPicPr>
            <a:picLocks noChangeAspect="1" noChangeArrowheads="1"/>
          </p:cNvPicPr>
          <p:nvPr/>
        </p:nvPicPr>
        <p:blipFill>
          <a:blip r:embed="rId3" cstate="print"/>
          <a:srcRect/>
          <a:stretch>
            <a:fillRect/>
          </a:stretch>
        </p:blipFill>
        <p:spPr bwMode="auto">
          <a:xfrm>
            <a:off x="6019801" y="4267200"/>
            <a:ext cx="3124200" cy="2362200"/>
          </a:xfrm>
          <a:prstGeom prst="rect">
            <a:avLst/>
          </a:prstGeom>
          <a:noFill/>
        </p:spPr>
      </p:pic>
    </p:spTree>
    <p:extLst>
      <p:ext uri="{BB962C8B-B14F-4D97-AF65-F5344CB8AC3E}">
        <p14:creationId xmlns:p14="http://schemas.microsoft.com/office/powerpoint/2010/main" val="4275704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676400"/>
            <a:ext cx="8001000" cy="3539430"/>
          </a:xfrm>
          <a:prstGeom prst="rect">
            <a:avLst/>
          </a:prstGeom>
        </p:spPr>
        <p:txBody>
          <a:bodyPr wrap="square">
            <a:spAutoFit/>
          </a:bodyPr>
          <a:lstStyle/>
          <a:p>
            <a:pPr>
              <a:spcAft>
                <a:spcPct val="0"/>
              </a:spcAft>
              <a:defRPr/>
            </a:pPr>
            <a:r>
              <a:rPr lang="en-US" sz="2800" dirty="0">
                <a:solidFill>
                  <a:srgbClr val="FF0000"/>
                </a:solidFill>
              </a:rPr>
              <a:t>      </a:t>
            </a:r>
            <a:r>
              <a:rPr lang="en-US" sz="2800" dirty="0" err="1">
                <a:solidFill>
                  <a:srgbClr val="FF0000"/>
                </a:solidFill>
              </a:rPr>
              <a:t>Sonologist</a:t>
            </a:r>
            <a:r>
              <a:rPr lang="en-US" sz="2800" dirty="0">
                <a:solidFill>
                  <a:srgbClr val="FF0000"/>
                </a:solidFill>
              </a:rPr>
              <a:t>: </a:t>
            </a:r>
            <a:r>
              <a:rPr lang="en-US" sz="2800" dirty="0"/>
              <a:t>Physician (medical doctor)</a:t>
            </a:r>
          </a:p>
          <a:p>
            <a:pPr lvl="1">
              <a:defRPr/>
            </a:pPr>
            <a:r>
              <a:rPr lang="en-US" sz="2800" dirty="0"/>
              <a:t>Specialized training in ultrasound .Successful completion of national boards in his or her respective specialty.</a:t>
            </a:r>
          </a:p>
          <a:p>
            <a:pPr lvl="1">
              <a:defRPr/>
            </a:pPr>
            <a:endParaRPr lang="en-US" sz="2800" dirty="0">
              <a:solidFill>
                <a:srgbClr val="FF0000"/>
              </a:solidFill>
              <a:ea typeface="ＭＳ Ｐゴシック" pitchFamily="34" charset="-128"/>
            </a:endParaRPr>
          </a:p>
          <a:p>
            <a:pPr lvl="1">
              <a:defRPr/>
            </a:pPr>
            <a:r>
              <a:rPr lang="en-US" sz="2800" dirty="0">
                <a:solidFill>
                  <a:srgbClr val="FF0000"/>
                </a:solidFill>
                <a:ea typeface="ＭＳ Ｐゴシック" pitchFamily="34" charset="-128"/>
              </a:rPr>
              <a:t>Sonography</a:t>
            </a:r>
            <a:r>
              <a:rPr lang="en-US" sz="2800" dirty="0">
                <a:solidFill>
                  <a:srgbClr val="FFFF00"/>
                </a:solidFill>
                <a:ea typeface="ＭＳ Ｐゴシック" pitchFamily="34" charset="-128"/>
              </a:rPr>
              <a:t>:</a:t>
            </a:r>
            <a:r>
              <a:rPr lang="en-US" sz="2800" dirty="0">
                <a:ea typeface="ＭＳ Ｐゴシック" pitchFamily="34" charset="-128"/>
              </a:rPr>
              <a:t> Visualizes soft-tissue structures of the body with the help of returning sound waves</a:t>
            </a:r>
          </a:p>
          <a:p>
            <a:pPr lvl="1">
              <a:defRPr/>
            </a:pPr>
            <a:endParaRPr lang="en-US" sz="2800" dirty="0"/>
          </a:p>
        </p:txBody>
      </p:sp>
      <p:sp>
        <p:nvSpPr>
          <p:cNvPr id="4" name="Rectangle 3"/>
          <p:cNvSpPr/>
          <p:nvPr/>
        </p:nvSpPr>
        <p:spPr>
          <a:xfrm>
            <a:off x="838200" y="762000"/>
            <a:ext cx="7315200" cy="523220"/>
          </a:xfrm>
          <a:prstGeom prst="rect">
            <a:avLst/>
          </a:prstGeom>
        </p:spPr>
        <p:txBody>
          <a:bodyPr wrap="square">
            <a:spAutoFit/>
          </a:bodyPr>
          <a:lstStyle/>
          <a:p>
            <a:pPr algn="ctr">
              <a:defRPr/>
            </a:pPr>
            <a:r>
              <a:rPr lang="en-US" sz="2800" b="1" dirty="0">
                <a:solidFill>
                  <a:srgbClr val="FF0000"/>
                </a:solidFill>
                <a:ea typeface="ＭＳ Ｐゴシック" pitchFamily="34" charset="-128"/>
              </a:rPr>
              <a:t>Terminology</a:t>
            </a:r>
            <a:endParaRPr lang="en-US" sz="2800" b="1" dirty="0">
              <a:ea typeface="ＭＳ Ｐゴシック" pitchFamily="34" charset="-128"/>
            </a:endParaRPr>
          </a:p>
        </p:txBody>
      </p:sp>
    </p:spTree>
    <p:extLst>
      <p:ext uri="{BB962C8B-B14F-4D97-AF65-F5344CB8AC3E}">
        <p14:creationId xmlns:p14="http://schemas.microsoft.com/office/powerpoint/2010/main" val="3244739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Sonography</a:t>
            </a:r>
            <a:r>
              <a:rPr lang="en-US" dirty="0">
                <a:solidFill>
                  <a:srgbClr val="FF0000"/>
                </a:solidFill>
              </a:rPr>
              <a:t>/</a:t>
            </a:r>
            <a:r>
              <a:rPr lang="en-US" dirty="0" err="1">
                <a:solidFill>
                  <a:srgbClr val="FF0000"/>
                </a:solidFill>
              </a:rPr>
              <a:t>sonologist</a:t>
            </a:r>
            <a:endParaRPr lang="en-US" dirty="0">
              <a:solidFill>
                <a:srgbClr val="FF0000"/>
              </a:solidFill>
            </a:endParaRPr>
          </a:p>
        </p:txBody>
      </p:sp>
      <p:pic>
        <p:nvPicPr>
          <p:cNvPr id="7170" name="Picture 2" descr="C:\Users\User\Desktop\ultrasonido.jpg"/>
          <p:cNvPicPr>
            <a:picLocks noGrp="1" noChangeAspect="1" noChangeArrowheads="1"/>
          </p:cNvPicPr>
          <p:nvPr>
            <p:ph idx="1"/>
          </p:nvPr>
        </p:nvPicPr>
        <p:blipFill>
          <a:blip r:embed="rId2" cstate="print"/>
          <a:srcRect/>
          <a:stretch>
            <a:fillRect/>
          </a:stretch>
        </p:blipFill>
        <p:spPr bwMode="auto">
          <a:xfrm>
            <a:off x="3810000" y="1600201"/>
            <a:ext cx="4443901" cy="3505200"/>
          </a:xfrm>
          <a:prstGeom prst="rect">
            <a:avLst/>
          </a:prstGeom>
          <a:noFill/>
        </p:spPr>
      </p:pic>
      <p:pic>
        <p:nvPicPr>
          <p:cNvPr id="5" name="Picture 2" descr="C:\Users\User\Desktop\download (1).jpg"/>
          <p:cNvPicPr>
            <a:picLocks noChangeAspect="1" noChangeArrowheads="1"/>
          </p:cNvPicPr>
          <p:nvPr/>
        </p:nvPicPr>
        <p:blipFill>
          <a:blip r:embed="rId3" cstate="print"/>
          <a:srcRect/>
          <a:stretch>
            <a:fillRect/>
          </a:stretch>
        </p:blipFill>
        <p:spPr bwMode="auto">
          <a:xfrm>
            <a:off x="137670" y="1676400"/>
            <a:ext cx="3893279" cy="34290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1066800"/>
            <a:ext cx="7086600" cy="5539978"/>
          </a:xfrm>
          <a:prstGeom prst="rect">
            <a:avLst/>
          </a:prstGeom>
        </p:spPr>
        <p:txBody>
          <a:bodyPr wrap="square">
            <a:spAutoFit/>
          </a:bodyPr>
          <a:lstStyle/>
          <a:p>
            <a:pPr marL="320040" indent="-320040">
              <a:spcBef>
                <a:spcPts val="0"/>
              </a:spcBef>
              <a:spcAft>
                <a:spcPts val="1200"/>
              </a:spcAft>
              <a:buFont typeface="Arial" charset="0"/>
              <a:buChar char="•"/>
              <a:defRPr/>
            </a:pPr>
            <a:r>
              <a:rPr lang="en-US" sz="2400" dirty="0"/>
              <a:t>Abdominal, renal, and retroperitoneal </a:t>
            </a:r>
          </a:p>
          <a:p>
            <a:pPr marL="320040" indent="-320040">
              <a:spcBef>
                <a:spcPts val="0"/>
              </a:spcBef>
              <a:spcAft>
                <a:spcPts val="1200"/>
              </a:spcAft>
              <a:buFont typeface="Arial" charset="0"/>
              <a:buChar char="•"/>
              <a:defRPr/>
            </a:pPr>
            <a:r>
              <a:rPr lang="en-US" sz="2400" dirty="0"/>
              <a:t>Interventional and therapeutic-guided </a:t>
            </a:r>
          </a:p>
          <a:p>
            <a:pPr marL="320040" indent="-320040">
              <a:spcBef>
                <a:spcPts val="0"/>
              </a:spcBef>
              <a:spcAft>
                <a:spcPts val="1200"/>
              </a:spcAft>
              <a:buFont typeface="Arial" charset="0"/>
              <a:buChar char="•"/>
              <a:defRPr/>
            </a:pPr>
            <a:r>
              <a:rPr lang="en-US" sz="2400" dirty="0"/>
              <a:t>Thoracic </a:t>
            </a:r>
          </a:p>
          <a:p>
            <a:pPr marL="320040" indent="-320040">
              <a:spcBef>
                <a:spcPts val="0"/>
              </a:spcBef>
              <a:spcAft>
                <a:spcPts val="1200"/>
              </a:spcAft>
              <a:buFont typeface="Arial" charset="0"/>
              <a:buChar char="•"/>
              <a:defRPr/>
            </a:pPr>
            <a:r>
              <a:rPr lang="en-US" sz="2400" dirty="0"/>
              <a:t>Superficial structures (breast, thyroid, scrotum) also known as small parts. </a:t>
            </a:r>
          </a:p>
          <a:p>
            <a:pPr marL="320040" indent="-320040">
              <a:spcBef>
                <a:spcPts val="0"/>
              </a:spcBef>
              <a:spcAft>
                <a:spcPts val="1200"/>
              </a:spcAft>
              <a:buFont typeface="Arial" charset="0"/>
              <a:buChar char="•"/>
              <a:defRPr/>
            </a:pPr>
            <a:r>
              <a:rPr lang="en-US" sz="2400" dirty="0"/>
              <a:t>Cardiovascular and </a:t>
            </a:r>
            <a:r>
              <a:rPr lang="en-US" sz="2400" dirty="0" err="1"/>
              <a:t>endoluminal</a:t>
            </a:r>
            <a:endParaRPr lang="en-US" sz="2400" dirty="0"/>
          </a:p>
          <a:p>
            <a:pPr marL="320040" indent="-320040">
              <a:spcBef>
                <a:spcPts val="0"/>
              </a:spcBef>
              <a:spcAft>
                <a:spcPts val="1200"/>
              </a:spcAft>
              <a:buFont typeface="Arial" charset="0"/>
              <a:buChar char="•"/>
              <a:defRPr/>
            </a:pPr>
            <a:r>
              <a:rPr lang="en-US" sz="2400" dirty="0"/>
              <a:t>Obstetric and gynecologic</a:t>
            </a:r>
          </a:p>
          <a:p>
            <a:pPr marL="320040" indent="-320040">
              <a:spcBef>
                <a:spcPts val="0"/>
              </a:spcBef>
              <a:spcAft>
                <a:spcPts val="1200"/>
              </a:spcAft>
              <a:buFont typeface="Arial" charset="0"/>
              <a:buChar char="•"/>
              <a:defRPr/>
            </a:pPr>
            <a:r>
              <a:rPr lang="en-US" sz="2400" dirty="0" err="1"/>
              <a:t>Intraoperative</a:t>
            </a:r>
            <a:endParaRPr lang="en-US" sz="2400" dirty="0"/>
          </a:p>
          <a:p>
            <a:pPr marL="320040" indent="-320040">
              <a:spcBef>
                <a:spcPts val="0"/>
              </a:spcBef>
              <a:spcAft>
                <a:spcPts val="1200"/>
              </a:spcAft>
              <a:buFont typeface="Arial" charset="0"/>
              <a:buChar char="•"/>
              <a:defRPr/>
            </a:pPr>
            <a:r>
              <a:rPr lang="en-US" sz="2400" dirty="0"/>
              <a:t>Neonatal and pediatric</a:t>
            </a:r>
          </a:p>
          <a:p>
            <a:pPr marL="320040" indent="-320040">
              <a:spcBef>
                <a:spcPts val="0"/>
              </a:spcBef>
              <a:spcAft>
                <a:spcPts val="1200"/>
              </a:spcAft>
              <a:buFont typeface="Arial" charset="0"/>
              <a:buChar char="•"/>
              <a:defRPr/>
            </a:pPr>
            <a:r>
              <a:rPr lang="en-US" sz="2400" dirty="0"/>
              <a:t>Musculoskeletal</a:t>
            </a:r>
          </a:p>
          <a:p>
            <a:pPr marL="320040" indent="-320040">
              <a:spcBef>
                <a:spcPts val="0"/>
              </a:spcBef>
              <a:spcAft>
                <a:spcPts val="1200"/>
              </a:spcAft>
              <a:buFont typeface="Arial" charset="0"/>
              <a:buChar char="•"/>
              <a:defRPr/>
            </a:pPr>
            <a:r>
              <a:rPr lang="en-US" sz="2400" dirty="0"/>
              <a:t>Ophthalmologic</a:t>
            </a:r>
          </a:p>
        </p:txBody>
      </p:sp>
      <p:sp>
        <p:nvSpPr>
          <p:cNvPr id="3" name="Rectangle 2"/>
          <p:cNvSpPr/>
          <p:nvPr/>
        </p:nvSpPr>
        <p:spPr>
          <a:xfrm>
            <a:off x="2286000" y="304800"/>
            <a:ext cx="3912481" cy="646331"/>
          </a:xfrm>
          <a:prstGeom prst="rect">
            <a:avLst/>
          </a:prstGeom>
        </p:spPr>
        <p:txBody>
          <a:bodyPr wrap="none">
            <a:spAutoFit/>
          </a:bodyPr>
          <a:lstStyle/>
          <a:p>
            <a:r>
              <a:rPr lang="en-US" sz="3600" dirty="0">
                <a:solidFill>
                  <a:srgbClr val="FF0000"/>
                </a:solidFill>
                <a:ea typeface="ＭＳ Ｐゴシック" pitchFamily="34" charset="-128"/>
              </a:rPr>
              <a:t>Clinical Applications</a:t>
            </a:r>
            <a:endParaRPr lang="en-US" sz="3600" dirty="0">
              <a:solidFill>
                <a:srgbClr val="FF0000"/>
              </a:solidFill>
            </a:endParaRPr>
          </a:p>
        </p:txBody>
      </p:sp>
    </p:spTree>
    <p:extLst>
      <p:ext uri="{BB962C8B-B14F-4D97-AF65-F5344CB8AC3E}">
        <p14:creationId xmlns:p14="http://schemas.microsoft.com/office/powerpoint/2010/main" val="4212825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FF0000"/>
                </a:solidFill>
                <a:ea typeface="ＭＳ Ｐゴシック" pitchFamily="34" charset="-128"/>
              </a:rPr>
              <a:t>Advantages of Ultrasound</a:t>
            </a:r>
            <a:endParaRPr lang="en-US" dirty="0">
              <a:solidFill>
                <a:srgbClr val="FF0000"/>
              </a:solidFill>
            </a:endParaRPr>
          </a:p>
        </p:txBody>
      </p:sp>
      <p:sp>
        <p:nvSpPr>
          <p:cNvPr id="5" name="Rectangle 4"/>
          <p:cNvSpPr/>
          <p:nvPr/>
        </p:nvSpPr>
        <p:spPr>
          <a:xfrm>
            <a:off x="1676400" y="2286000"/>
            <a:ext cx="6705600" cy="4154984"/>
          </a:xfrm>
          <a:prstGeom prst="rect">
            <a:avLst/>
          </a:prstGeom>
        </p:spPr>
        <p:txBody>
          <a:bodyPr wrap="square">
            <a:spAutoFit/>
          </a:bodyPr>
          <a:lstStyle/>
          <a:p>
            <a:pPr>
              <a:buFont typeface="Arial" charset="0"/>
              <a:buChar char="•"/>
              <a:defRPr/>
            </a:pPr>
            <a:r>
              <a:rPr lang="en-US" sz="2400" dirty="0">
                <a:ea typeface="ＭＳ Ｐゴシック" pitchFamily="34" charset="-128"/>
              </a:rPr>
              <a:t>No harmful effects</a:t>
            </a:r>
          </a:p>
          <a:p>
            <a:pPr>
              <a:buFont typeface="Arial" charset="0"/>
              <a:buChar char="•"/>
              <a:defRPr/>
            </a:pPr>
            <a:r>
              <a:rPr lang="en-US" sz="2400" dirty="0">
                <a:ea typeface="ＭＳ Ｐゴシック" pitchFamily="34" charset="-128"/>
              </a:rPr>
              <a:t>No ionizing radiation.</a:t>
            </a:r>
          </a:p>
          <a:p>
            <a:pPr>
              <a:buFont typeface="Arial" charset="0"/>
              <a:buChar char="•"/>
              <a:defRPr/>
            </a:pPr>
            <a:r>
              <a:rPr lang="en-US" sz="2400" dirty="0">
                <a:ea typeface="ＭＳ Ｐゴシック" pitchFamily="34" charset="-128"/>
              </a:rPr>
              <a:t>Portable equipments.</a:t>
            </a:r>
          </a:p>
          <a:p>
            <a:pPr>
              <a:buFont typeface="Arial" charset="0"/>
              <a:buChar char="•"/>
              <a:defRPr/>
            </a:pPr>
            <a:r>
              <a:rPr lang="en-US" sz="2400" dirty="0">
                <a:ea typeface="ＭＳ Ｐゴシック" pitchFamily="34" charset="-128"/>
              </a:rPr>
              <a:t>Real time format</a:t>
            </a:r>
          </a:p>
          <a:p>
            <a:pPr>
              <a:buFont typeface="Arial" charset="0"/>
              <a:buChar char="•"/>
              <a:defRPr/>
            </a:pPr>
            <a:endParaRPr lang="en-US" sz="2400" dirty="0">
              <a:ea typeface="ＭＳ Ｐゴシック" pitchFamily="34" charset="-128"/>
            </a:endParaRPr>
          </a:p>
          <a:p>
            <a:pPr>
              <a:buFont typeface="Arial" charset="0"/>
              <a:buChar char="•"/>
              <a:defRPr/>
            </a:pPr>
            <a:r>
              <a:rPr lang="en-US" sz="2400" dirty="0" err="1">
                <a:ea typeface="ＭＳ Ｐゴシック" pitchFamily="34" charset="-128"/>
              </a:rPr>
              <a:t>Multiplanar</a:t>
            </a:r>
            <a:r>
              <a:rPr lang="en-US" sz="2400" dirty="0">
                <a:ea typeface="ＭＳ Ｐゴシック" pitchFamily="34" charset="-128"/>
              </a:rPr>
              <a:t> imaging: Can “follow” the path of a tortuous vessel, moving cardiac structure, or fetus</a:t>
            </a:r>
          </a:p>
          <a:p>
            <a:pPr>
              <a:buFont typeface="Arial" charset="0"/>
              <a:buChar char="•"/>
              <a:defRPr/>
            </a:pPr>
            <a:r>
              <a:rPr lang="en-US" sz="2400" dirty="0">
                <a:ea typeface="ＭＳ Ｐゴシック" pitchFamily="34" charset="-128"/>
              </a:rPr>
              <a:t>Doppler techniques: Allow qualitative and quantitative evaluation of blood flow </a:t>
            </a:r>
          </a:p>
          <a:p>
            <a:pPr>
              <a:buFont typeface="Arial" charset="0"/>
              <a:buChar char="•"/>
              <a:defRPr/>
            </a:pPr>
            <a:r>
              <a:rPr lang="en-US" sz="2400" dirty="0">
                <a:ea typeface="ＭＳ Ｐゴシック" pitchFamily="34" charset="-128"/>
              </a:rPr>
              <a:t>Costs less than other imaging systems.</a:t>
            </a:r>
          </a:p>
          <a:p>
            <a:pPr>
              <a:buFont typeface="Arial" charset="0"/>
              <a:buChar char="•"/>
              <a:defRPr/>
            </a:pPr>
            <a:r>
              <a:rPr lang="en-US" sz="2400" dirty="0">
                <a:solidFill>
                  <a:srgbClr val="7030A0"/>
                </a:solidFill>
                <a:ea typeface="ＭＳ Ｐゴシック" pitchFamily="34" charset="-128"/>
              </a:rPr>
              <a:t>Ultrasound contrast agent based on gas bubble</a:t>
            </a:r>
            <a:r>
              <a:rPr lang="en-US" sz="2400" dirty="0">
                <a:ea typeface="ＭＳ Ｐゴシック" pitchFamily="34" charset="-128"/>
              </a:rPr>
              <a:t>.</a:t>
            </a:r>
          </a:p>
        </p:txBody>
      </p:sp>
      <p:sp>
        <p:nvSpPr>
          <p:cNvPr id="6" name="Content Placeholder 5"/>
          <p:cNvSpPr>
            <a:spLocks noGrp="1"/>
          </p:cNvSpPr>
          <p:nvPr>
            <p:ph idx="1"/>
          </p:nvPr>
        </p:nvSpPr>
        <p:spPr>
          <a:xfrm>
            <a:off x="304800" y="1219200"/>
            <a:ext cx="8229600" cy="5374184"/>
          </a:xfrm>
        </p:spPr>
        <p:txBody>
          <a:bodyPr/>
          <a:lstStyle/>
          <a:p>
            <a:pPr>
              <a:buNone/>
            </a:pPr>
            <a:endParaRPr lang="en-US" dirty="0"/>
          </a:p>
        </p:txBody>
      </p:sp>
    </p:spTree>
    <p:extLst>
      <p:ext uri="{BB962C8B-B14F-4D97-AF65-F5344CB8AC3E}">
        <p14:creationId xmlns:p14="http://schemas.microsoft.com/office/powerpoint/2010/main" val="3601298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Grp="1" noChangeArrowheads="1"/>
          </p:cNvSpPr>
          <p:nvPr>
            <p:ph type="sldNum" sz="quarter" idx="11"/>
          </p:nvPr>
        </p:nvSpPr>
        <p:spPr/>
        <p:txBody>
          <a:bodyPr/>
          <a:lstStyle/>
          <a:p>
            <a:pPr>
              <a:defRPr/>
            </a:pPr>
            <a:fld id="{3CD79384-1498-42E9-B7D0-F2DAAF3F6E6A}" type="slidenum">
              <a:rPr lang="en-US"/>
              <a:pPr>
                <a:defRPr/>
              </a:pPr>
              <a:t>10</a:t>
            </a:fld>
            <a:endParaRPr lang="en-US"/>
          </a:p>
        </p:txBody>
      </p:sp>
      <p:sp>
        <p:nvSpPr>
          <p:cNvPr id="17410" name="Rectangle 2"/>
          <p:cNvSpPr>
            <a:spLocks noGrp="1" noChangeArrowheads="1"/>
          </p:cNvSpPr>
          <p:nvPr>
            <p:ph type="title" idx="4294967295"/>
          </p:nvPr>
        </p:nvSpPr>
        <p:spPr>
          <a:xfrm>
            <a:off x="457200" y="274638"/>
            <a:ext cx="8229600" cy="868362"/>
          </a:xfrm>
        </p:spPr>
        <p:txBody>
          <a:bodyPr>
            <a:normAutofit/>
          </a:bodyPr>
          <a:lstStyle/>
          <a:p>
            <a:pPr>
              <a:defRPr/>
            </a:pPr>
            <a:r>
              <a:rPr lang="en-US" sz="3200" b="1" dirty="0">
                <a:solidFill>
                  <a:srgbClr val="FF0000"/>
                </a:solidFill>
              </a:rPr>
              <a:t>Role of the Sonographer</a:t>
            </a:r>
          </a:p>
        </p:txBody>
      </p:sp>
      <p:sp>
        <p:nvSpPr>
          <p:cNvPr id="17411" name="Rectangle 3"/>
          <p:cNvSpPr>
            <a:spLocks noGrp="1" noChangeArrowheads="1"/>
          </p:cNvSpPr>
          <p:nvPr>
            <p:ph type="body" idx="4294967295"/>
          </p:nvPr>
        </p:nvSpPr>
        <p:spPr>
          <a:xfrm>
            <a:off x="457200" y="1143000"/>
            <a:ext cx="8229600" cy="5334000"/>
          </a:xfrm>
        </p:spPr>
        <p:txBody>
          <a:bodyPr>
            <a:normAutofit fontScale="92500" lnSpcReduction="20000"/>
          </a:bodyPr>
          <a:lstStyle/>
          <a:p>
            <a:pPr>
              <a:spcAft>
                <a:spcPts val="1800"/>
              </a:spcAft>
              <a:defRPr/>
            </a:pPr>
            <a:r>
              <a:rPr lang="en-US" dirty="0">
                <a:solidFill>
                  <a:srgbClr val="FF0000"/>
                </a:solidFill>
                <a:ea typeface="ＭＳ Ｐゴシック" charset="0"/>
              </a:rPr>
              <a:t>Role</a:t>
            </a:r>
            <a:r>
              <a:rPr lang="en-US" dirty="0">
                <a:solidFill>
                  <a:srgbClr val="FFC000"/>
                </a:solidFill>
                <a:ea typeface="ＭＳ Ｐゴシック" charset="0"/>
              </a:rPr>
              <a:t> </a:t>
            </a:r>
            <a:r>
              <a:rPr lang="en-US" dirty="0">
                <a:solidFill>
                  <a:schemeClr val="tx2"/>
                </a:solidFill>
                <a:ea typeface="ＭＳ Ｐゴシック" charset="0"/>
                <a:sym typeface="Wingdings" pitchFamily="2" charset="2"/>
              </a:rPr>
              <a:t></a:t>
            </a:r>
            <a:r>
              <a:rPr lang="en-US" dirty="0">
                <a:solidFill>
                  <a:schemeClr val="tx2"/>
                </a:solidFill>
                <a:ea typeface="ＭＳ Ｐゴシック" charset="0"/>
              </a:rPr>
              <a:t> is a specific behavior that an individual demonstrates to others</a:t>
            </a:r>
            <a:endParaRPr lang="en-US" dirty="0"/>
          </a:p>
          <a:p>
            <a:pPr>
              <a:spcAft>
                <a:spcPts val="1800"/>
              </a:spcAft>
              <a:defRPr/>
            </a:pPr>
            <a:r>
              <a:rPr lang="en-US" dirty="0"/>
              <a:t>Works directly with physicians and patients </a:t>
            </a:r>
          </a:p>
          <a:p>
            <a:pPr>
              <a:spcAft>
                <a:spcPts val="1800"/>
              </a:spcAft>
              <a:defRPr/>
            </a:pPr>
            <a:r>
              <a:rPr lang="en-US" dirty="0"/>
              <a:t>Interacts with nurses and other members of the medical staff </a:t>
            </a:r>
          </a:p>
          <a:p>
            <a:pPr>
              <a:spcAft>
                <a:spcPts val="1800"/>
              </a:spcAft>
              <a:defRPr/>
            </a:pPr>
            <a:r>
              <a:rPr lang="en-US" dirty="0"/>
              <a:t>Reviews patient’s records to assess clinical history and symptoms; interprets laboratory values; should understand other diagnostic examinations</a:t>
            </a:r>
          </a:p>
          <a:p>
            <a:pPr>
              <a:spcAft>
                <a:spcPts val="1800"/>
              </a:spcAft>
              <a:defRPr/>
            </a:pPr>
            <a:r>
              <a:rPr lang="en-US" dirty="0"/>
              <a:t>Understands and operates complex ultrasound instrumentation</a:t>
            </a:r>
          </a:p>
        </p:txBody>
      </p:sp>
    </p:spTree>
    <p:extLst>
      <p:ext uri="{BB962C8B-B14F-4D97-AF65-F5344CB8AC3E}">
        <p14:creationId xmlns:p14="http://schemas.microsoft.com/office/powerpoint/2010/main" val="1286598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Grp="1" noChangeArrowheads="1"/>
          </p:cNvSpPr>
          <p:nvPr>
            <p:ph type="sldNum" sz="quarter" idx="11"/>
          </p:nvPr>
        </p:nvSpPr>
        <p:spPr/>
        <p:txBody>
          <a:bodyPr/>
          <a:lstStyle/>
          <a:p>
            <a:pPr>
              <a:defRPr/>
            </a:pPr>
            <a:fld id="{E147048D-0377-4EB8-A794-5E73F026253C}" type="slidenum">
              <a:rPr lang="en-US"/>
              <a:pPr>
                <a:defRPr/>
              </a:pPr>
              <a:t>11</a:t>
            </a:fld>
            <a:endParaRPr lang="en-US"/>
          </a:p>
        </p:txBody>
      </p:sp>
      <p:sp>
        <p:nvSpPr>
          <p:cNvPr id="2" name="Title 1"/>
          <p:cNvSpPr>
            <a:spLocks noGrp="1"/>
          </p:cNvSpPr>
          <p:nvPr>
            <p:ph type="title" idx="4294967295"/>
          </p:nvPr>
        </p:nvSpPr>
        <p:spPr>
          <a:xfrm>
            <a:off x="457200" y="274638"/>
            <a:ext cx="8229600" cy="1630362"/>
          </a:xfrm>
        </p:spPr>
        <p:txBody>
          <a:bodyPr>
            <a:normAutofit/>
          </a:bodyPr>
          <a:lstStyle/>
          <a:p>
            <a:pPr>
              <a:defRPr/>
            </a:pPr>
            <a:r>
              <a:rPr lang="en-US" sz="3200" b="1" dirty="0">
                <a:solidFill>
                  <a:srgbClr val="FF0000"/>
                </a:solidFill>
                <a:ea typeface="ＭＳ Ｐゴシック" pitchFamily="34" charset="-128"/>
              </a:rPr>
              <a:t>How Is the </a:t>
            </a:r>
            <a:r>
              <a:rPr lang="en-US" sz="3200" b="1" dirty="0" err="1">
                <a:solidFill>
                  <a:srgbClr val="FF0000"/>
                </a:solidFill>
                <a:ea typeface="ＭＳ Ｐゴシック" pitchFamily="34" charset="-128"/>
              </a:rPr>
              <a:t>Sonographer</a:t>
            </a:r>
            <a:r>
              <a:rPr lang="en-US" sz="3200" b="1" dirty="0">
                <a:solidFill>
                  <a:srgbClr val="FF0000"/>
                </a:solidFill>
                <a:ea typeface="ＭＳ Ｐゴシック" pitchFamily="34" charset="-128"/>
              </a:rPr>
              <a:t> Different</a:t>
            </a:r>
            <a:br>
              <a:rPr lang="en-US" sz="3200" b="1" dirty="0">
                <a:solidFill>
                  <a:srgbClr val="FF0000"/>
                </a:solidFill>
                <a:ea typeface="ＭＳ Ｐゴシック" pitchFamily="34" charset="-128"/>
              </a:rPr>
            </a:br>
            <a:r>
              <a:rPr lang="en-US" sz="3200" b="1" dirty="0">
                <a:solidFill>
                  <a:srgbClr val="FF0000"/>
                </a:solidFill>
                <a:ea typeface="ＭＳ Ｐゴシック" pitchFamily="34" charset="-128"/>
              </a:rPr>
              <a:t>from Other Allied Health Professionals?</a:t>
            </a:r>
          </a:p>
        </p:txBody>
      </p:sp>
      <p:sp>
        <p:nvSpPr>
          <p:cNvPr id="3" name="Content Placeholder 2"/>
          <p:cNvSpPr>
            <a:spLocks noGrp="1"/>
          </p:cNvSpPr>
          <p:nvPr>
            <p:ph idx="4294967295"/>
          </p:nvPr>
        </p:nvSpPr>
        <p:spPr>
          <a:xfrm>
            <a:off x="457200" y="2057400"/>
            <a:ext cx="8229600" cy="4343400"/>
          </a:xfrm>
        </p:spPr>
        <p:txBody>
          <a:bodyPr/>
          <a:lstStyle/>
          <a:p>
            <a:pPr>
              <a:defRPr/>
            </a:pPr>
            <a:r>
              <a:rPr lang="en-US" dirty="0">
                <a:ea typeface="ＭＳ Ｐゴシック" pitchFamily="34" charset="-128"/>
              </a:rPr>
              <a:t>Talks directly with patients to identify which symptoms relate directly to the examination</a:t>
            </a:r>
          </a:p>
          <a:p>
            <a:pPr>
              <a:defRPr/>
            </a:pPr>
            <a:r>
              <a:rPr lang="en-US" dirty="0">
                <a:ea typeface="ＭＳ Ｐゴシック" pitchFamily="34" charset="-128"/>
              </a:rPr>
              <a:t>Explains procedure to patient, and performs examination.</a:t>
            </a:r>
          </a:p>
          <a:p>
            <a:pPr>
              <a:defRPr/>
            </a:pPr>
            <a:r>
              <a:rPr lang="en-US" dirty="0">
                <a:ea typeface="ＭＳ Ｐゴシック" pitchFamily="34" charset="-128"/>
              </a:rPr>
              <a:t> Uses the protocol established by the department</a:t>
            </a:r>
          </a:p>
        </p:txBody>
      </p:sp>
    </p:spTree>
    <p:extLst>
      <p:ext uri="{BB962C8B-B14F-4D97-AF65-F5344CB8AC3E}">
        <p14:creationId xmlns:p14="http://schemas.microsoft.com/office/powerpoint/2010/main" val="3479641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Grp="1" noChangeArrowheads="1"/>
          </p:cNvSpPr>
          <p:nvPr>
            <p:ph type="sldNum" sz="quarter" idx="11"/>
          </p:nvPr>
        </p:nvSpPr>
        <p:spPr/>
        <p:txBody>
          <a:bodyPr/>
          <a:lstStyle/>
          <a:p>
            <a:pPr>
              <a:defRPr/>
            </a:pPr>
            <a:fld id="{C03AAF47-0205-47A1-B817-86B9B7BD6EF1}" type="slidenum">
              <a:rPr lang="en-US"/>
              <a:pPr>
                <a:defRPr/>
              </a:pPr>
              <a:t>12</a:t>
            </a:fld>
            <a:endParaRPr lang="en-US"/>
          </a:p>
        </p:txBody>
      </p:sp>
      <p:sp>
        <p:nvSpPr>
          <p:cNvPr id="12290" name="Title 1"/>
          <p:cNvSpPr>
            <a:spLocks noGrp="1"/>
          </p:cNvSpPr>
          <p:nvPr>
            <p:ph type="title" idx="4294967295"/>
          </p:nvPr>
        </p:nvSpPr>
        <p:spPr>
          <a:xfrm>
            <a:off x="457200" y="274638"/>
            <a:ext cx="8229600" cy="1477962"/>
          </a:xfrm>
        </p:spPr>
        <p:txBody>
          <a:bodyPr>
            <a:normAutofit/>
          </a:bodyPr>
          <a:lstStyle/>
          <a:p>
            <a:pPr>
              <a:defRPr/>
            </a:pPr>
            <a:r>
              <a:rPr lang="en-US" sz="3600" dirty="0">
                <a:solidFill>
                  <a:srgbClr val="FF0000"/>
                </a:solidFill>
                <a:ea typeface="ＭＳ Ｐゴシック" pitchFamily="34" charset="-128"/>
              </a:rPr>
              <a:t>How Is the </a:t>
            </a:r>
            <a:r>
              <a:rPr lang="en-US" sz="3600" dirty="0" err="1">
                <a:solidFill>
                  <a:srgbClr val="FF0000"/>
                </a:solidFill>
                <a:ea typeface="ＭＳ Ｐゴシック" pitchFamily="34" charset="-128"/>
              </a:rPr>
              <a:t>Sonographer</a:t>
            </a:r>
            <a:r>
              <a:rPr lang="en-US" sz="3600" dirty="0">
                <a:solidFill>
                  <a:srgbClr val="FF0000"/>
                </a:solidFill>
                <a:ea typeface="ＭＳ Ｐゴシック" pitchFamily="34" charset="-128"/>
              </a:rPr>
              <a:t> Different</a:t>
            </a:r>
            <a:br>
              <a:rPr lang="en-US" sz="3600" dirty="0">
                <a:solidFill>
                  <a:srgbClr val="FF0000"/>
                </a:solidFill>
                <a:ea typeface="ＭＳ Ｐゴシック" pitchFamily="34" charset="-128"/>
              </a:rPr>
            </a:br>
            <a:r>
              <a:rPr lang="en-US" sz="3600" dirty="0">
                <a:solidFill>
                  <a:srgbClr val="FF0000"/>
                </a:solidFill>
                <a:ea typeface="ＭＳ Ｐゴシック" pitchFamily="34" charset="-128"/>
              </a:rPr>
              <a:t>from Other Allied Health Professionals?</a:t>
            </a:r>
          </a:p>
        </p:txBody>
      </p:sp>
      <p:sp>
        <p:nvSpPr>
          <p:cNvPr id="3" name="Content Placeholder 2"/>
          <p:cNvSpPr>
            <a:spLocks noGrp="1"/>
          </p:cNvSpPr>
          <p:nvPr>
            <p:ph idx="4294967295"/>
          </p:nvPr>
        </p:nvSpPr>
        <p:spPr>
          <a:xfrm>
            <a:off x="457200" y="1981200"/>
            <a:ext cx="8229600" cy="3581400"/>
          </a:xfrm>
        </p:spPr>
        <p:txBody>
          <a:bodyPr>
            <a:normAutofit fontScale="92500" lnSpcReduction="20000"/>
          </a:bodyPr>
          <a:lstStyle/>
          <a:p>
            <a:pPr>
              <a:defRPr/>
            </a:pPr>
            <a:r>
              <a:rPr lang="en-US" dirty="0">
                <a:ea typeface="ＭＳ Ｐゴシック" pitchFamily="34" charset="-128"/>
              </a:rPr>
              <a:t>Uses independent judgment about needing to make adjustments on sonogram to answer clinical questions</a:t>
            </a:r>
          </a:p>
          <a:p>
            <a:pPr>
              <a:defRPr/>
            </a:pPr>
            <a:r>
              <a:rPr lang="en-US" dirty="0">
                <a:ea typeface="ＭＳ Ｐゴシック" pitchFamily="34" charset="-128"/>
              </a:rPr>
              <a:t>Reviews previous sonogram.</a:t>
            </a:r>
          </a:p>
          <a:p>
            <a:pPr>
              <a:defRPr/>
            </a:pPr>
            <a:r>
              <a:rPr lang="en-US" dirty="0">
                <a:ea typeface="ＭＳ Ｐゴシック" pitchFamily="34" charset="-128"/>
              </a:rPr>
              <a:t>Provides oral or written summary of technical findings to physician</a:t>
            </a:r>
          </a:p>
          <a:p>
            <a:pPr>
              <a:defRPr/>
            </a:pPr>
            <a:r>
              <a:rPr lang="en-US" dirty="0">
                <a:ea typeface="ＭＳ Ｐゴシック" pitchFamily="34" charset="-128"/>
              </a:rPr>
              <a:t>Alerts physician if dramatic or new changes are found</a:t>
            </a:r>
          </a:p>
        </p:txBody>
      </p:sp>
    </p:spTree>
    <p:extLst>
      <p:ext uri="{BB962C8B-B14F-4D97-AF65-F5344CB8AC3E}">
        <p14:creationId xmlns:p14="http://schemas.microsoft.com/office/powerpoint/2010/main" val="2921182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ea typeface="ＭＳ Ｐゴシック" charset="0"/>
              </a:rPr>
              <a:t>Qualities of a </a:t>
            </a:r>
            <a:r>
              <a:rPr lang="en-US" b="1" dirty="0" err="1">
                <a:solidFill>
                  <a:srgbClr val="FF0000"/>
                </a:solidFill>
                <a:ea typeface="ＭＳ Ｐゴシック" charset="0"/>
              </a:rPr>
              <a:t>Sonographer</a:t>
            </a:r>
            <a:endParaRPr lang="en-US" dirty="0"/>
          </a:p>
        </p:txBody>
      </p:sp>
      <p:sp>
        <p:nvSpPr>
          <p:cNvPr id="3" name="Content Placeholder 2"/>
          <p:cNvSpPr>
            <a:spLocks noGrp="1"/>
          </p:cNvSpPr>
          <p:nvPr>
            <p:ph idx="1"/>
          </p:nvPr>
        </p:nvSpPr>
        <p:spPr/>
        <p:txBody>
          <a:bodyPr>
            <a:normAutofit fontScale="77500" lnSpcReduction="20000"/>
          </a:bodyPr>
          <a:lstStyle/>
          <a:p>
            <a:pPr>
              <a:defRPr/>
            </a:pPr>
            <a:r>
              <a:rPr lang="en-US" b="1" dirty="0">
                <a:ea typeface="ＭＳ Ｐゴシック" charset="0"/>
              </a:rPr>
              <a:t>Self direction</a:t>
            </a:r>
            <a:endParaRPr lang="en-US" dirty="0">
              <a:ea typeface="ＭＳ Ｐゴシック" charset="0"/>
            </a:endParaRPr>
          </a:p>
          <a:p>
            <a:pPr>
              <a:buNone/>
              <a:defRPr/>
            </a:pPr>
            <a:r>
              <a:rPr lang="en-US" dirty="0">
                <a:solidFill>
                  <a:schemeClr val="tx2">
                    <a:lumMod val="75000"/>
                  </a:schemeClr>
                </a:solidFill>
                <a:ea typeface="ＭＳ Ｐゴシック" charset="0"/>
              </a:rPr>
              <a:t>	</a:t>
            </a:r>
            <a:r>
              <a:rPr lang="en-US" dirty="0" err="1">
                <a:solidFill>
                  <a:schemeClr val="tx2">
                    <a:lumMod val="75000"/>
                  </a:schemeClr>
                </a:solidFill>
                <a:ea typeface="ＭＳ Ｐゴシック" charset="0"/>
              </a:rPr>
              <a:t>Sonograph</a:t>
            </a:r>
            <a:r>
              <a:rPr lang="en-US" dirty="0" err="1">
                <a:ea typeface="ＭＳ Ｐゴシック" charset="0"/>
              </a:rPr>
              <a:t>er</a:t>
            </a:r>
            <a:r>
              <a:rPr lang="en-US" dirty="0">
                <a:ea typeface="ＭＳ Ｐゴシック" charset="0"/>
              </a:rPr>
              <a:t> must be creative and able to make independent decision</a:t>
            </a:r>
            <a:endParaRPr lang="en-US" b="1" dirty="0">
              <a:ea typeface="ＭＳ Ｐゴシック" charset="0"/>
            </a:endParaRPr>
          </a:p>
          <a:p>
            <a:pPr>
              <a:defRPr/>
            </a:pPr>
            <a:r>
              <a:rPr lang="en-US" b="1" dirty="0">
                <a:ea typeface="ＭＳ Ｐゴシック" charset="0"/>
              </a:rPr>
              <a:t>Emotional stability</a:t>
            </a:r>
          </a:p>
          <a:p>
            <a:pPr>
              <a:defRPr/>
            </a:pPr>
            <a:r>
              <a:rPr lang="en-US" b="1" dirty="0">
                <a:ea typeface="ＭＳ Ｐゴシック" charset="0"/>
              </a:rPr>
              <a:t>Communication skills</a:t>
            </a:r>
            <a:endParaRPr lang="en-US" dirty="0">
              <a:ea typeface="ＭＳ Ｐゴシック" charset="0"/>
            </a:endParaRPr>
          </a:p>
          <a:p>
            <a:pPr>
              <a:defRPr/>
            </a:pPr>
            <a:r>
              <a:rPr lang="en-US" dirty="0">
                <a:ea typeface="ＭＳ Ｐゴシック" charset="0"/>
              </a:rPr>
              <a:t>Must be effective communicator as well as a good listener </a:t>
            </a:r>
            <a:endParaRPr lang="en-US" b="1" dirty="0">
              <a:ea typeface="ＭＳ Ｐゴシック" charset="0"/>
            </a:endParaRPr>
          </a:p>
          <a:p>
            <a:pPr>
              <a:defRPr/>
            </a:pPr>
            <a:r>
              <a:rPr lang="en-US" b="1" dirty="0">
                <a:ea typeface="ＭＳ Ｐゴシック" charset="0"/>
              </a:rPr>
              <a:t>Dedication</a:t>
            </a:r>
            <a:endParaRPr lang="en-US" dirty="0">
              <a:ea typeface="ＭＳ Ｐゴシック" charset="0"/>
            </a:endParaRPr>
          </a:p>
          <a:p>
            <a:pPr>
              <a:buNone/>
              <a:defRPr/>
            </a:pPr>
            <a:r>
              <a:rPr lang="en-US" dirty="0">
                <a:ea typeface="ＭＳ Ｐゴシック" charset="0"/>
              </a:rPr>
              <a:t>     Should find satisfaction in working with all types of patients, including children, expecting mothers and elderly patients.</a:t>
            </a:r>
          </a:p>
          <a:p>
            <a:pPr>
              <a:defRPr/>
            </a:pPr>
            <a:r>
              <a:rPr lang="en-US" dirty="0"/>
              <a:t>Have normal or corrected vision, hearing and tactile sensitivity. Have physical and mental stamina endurance.</a:t>
            </a:r>
            <a:r>
              <a:rPr lang="en-US" dirty="0">
                <a:ea typeface="ＭＳ Ｐゴシック" charset="0"/>
              </a:rPr>
              <a:t> </a:t>
            </a:r>
          </a:p>
        </p:txBody>
      </p:sp>
    </p:spTree>
    <p:extLst>
      <p:ext uri="{BB962C8B-B14F-4D97-AF65-F5344CB8AC3E}">
        <p14:creationId xmlns:p14="http://schemas.microsoft.com/office/powerpoint/2010/main" val="1105339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rrowheads="1"/>
          </p:cNvSpPr>
          <p:nvPr>
            <p:ph type="title"/>
          </p:nvPr>
        </p:nvSpPr>
        <p:spPr>
          <a:xfrm>
            <a:off x="304800" y="0"/>
            <a:ext cx="8540750" cy="685800"/>
          </a:xfrm>
        </p:spPr>
        <p:txBody>
          <a:bodyPr>
            <a:normAutofit fontScale="90000"/>
          </a:bodyPr>
          <a:lstStyle/>
          <a:p>
            <a:pPr eaLnBrk="1" hangingPunct="1">
              <a:defRPr/>
            </a:pPr>
            <a:r>
              <a:rPr lang="en-US" b="1" dirty="0">
                <a:solidFill>
                  <a:srgbClr val="FF0000"/>
                </a:solidFill>
                <a:ea typeface="ＭＳ Ｐゴシック" charset="0"/>
              </a:rPr>
              <a:t>Qualities of a </a:t>
            </a:r>
            <a:r>
              <a:rPr lang="en-US" b="1" dirty="0" err="1">
                <a:solidFill>
                  <a:srgbClr val="FF0000"/>
                </a:solidFill>
                <a:ea typeface="ＭＳ Ｐゴシック" charset="0"/>
              </a:rPr>
              <a:t>Sonographer</a:t>
            </a:r>
            <a:endParaRPr lang="en-US" b="1" dirty="0">
              <a:solidFill>
                <a:srgbClr val="FF0000"/>
              </a:solidFill>
              <a:ea typeface="ＭＳ Ｐゴシック" charset="0"/>
            </a:endParaRPr>
          </a:p>
        </p:txBody>
      </p:sp>
      <p:sp>
        <p:nvSpPr>
          <p:cNvPr id="29699" name="Rectangle 3"/>
          <p:cNvSpPr>
            <a:spLocks noGrp="1" noRot="1" noChangeArrowheads="1"/>
          </p:cNvSpPr>
          <p:nvPr>
            <p:ph type="body" idx="1"/>
          </p:nvPr>
        </p:nvSpPr>
        <p:spPr>
          <a:xfrm>
            <a:off x="0" y="609600"/>
            <a:ext cx="9144000" cy="6019800"/>
          </a:xfrm>
        </p:spPr>
        <p:txBody>
          <a:bodyPr>
            <a:normAutofit lnSpcReduction="10000"/>
          </a:bodyPr>
          <a:lstStyle/>
          <a:p>
            <a:pPr eaLnBrk="1" hangingPunct="1">
              <a:defRPr/>
            </a:pPr>
            <a:r>
              <a:rPr lang="en-US" sz="2800" b="1" dirty="0">
                <a:ea typeface="ＭＳ Ｐゴシック" charset="0"/>
              </a:rPr>
              <a:t>Intellectual curiosity </a:t>
            </a:r>
          </a:p>
          <a:p>
            <a:pPr lvl="1" eaLnBrk="1" hangingPunct="1">
              <a:defRPr/>
            </a:pPr>
            <a:r>
              <a:rPr lang="en-US" dirty="0" err="1">
                <a:ea typeface="ＭＳ Ｐゴシック" charset="0"/>
              </a:rPr>
              <a:t>Sonographer</a:t>
            </a:r>
            <a:r>
              <a:rPr lang="en-US" dirty="0">
                <a:ea typeface="ＭＳ Ｐゴシック" charset="0"/>
              </a:rPr>
              <a:t> should be intelligent and challenged by the thoughts of putting it to work to help people</a:t>
            </a:r>
            <a:endParaRPr lang="en-US" b="1" dirty="0">
              <a:ea typeface="ＭＳ Ｐゴシック" charset="0"/>
            </a:endParaRPr>
          </a:p>
          <a:p>
            <a:pPr eaLnBrk="1" hangingPunct="1">
              <a:defRPr/>
            </a:pPr>
            <a:r>
              <a:rPr lang="en-US" sz="2800" b="1" dirty="0">
                <a:ea typeface="ＭＳ Ｐゴシック" charset="0"/>
              </a:rPr>
              <a:t>Eagerness </a:t>
            </a:r>
          </a:p>
          <a:p>
            <a:pPr lvl="1" eaLnBrk="1" hangingPunct="1">
              <a:defRPr/>
            </a:pPr>
            <a:r>
              <a:rPr lang="en-US" dirty="0">
                <a:ea typeface="ＭＳ Ｐゴシック" charset="0"/>
              </a:rPr>
              <a:t>Willing to train </a:t>
            </a:r>
          </a:p>
          <a:p>
            <a:pPr eaLnBrk="1" hangingPunct="1">
              <a:defRPr/>
            </a:pPr>
            <a:r>
              <a:rPr lang="en-US" sz="2800" b="1" dirty="0">
                <a:ea typeface="ＭＳ Ｐゴシック" charset="0"/>
              </a:rPr>
              <a:t>Quick –thinking and analytic capabilities</a:t>
            </a:r>
          </a:p>
          <a:p>
            <a:pPr lvl="1" eaLnBrk="1" hangingPunct="1">
              <a:defRPr/>
            </a:pPr>
            <a:r>
              <a:rPr lang="en-US" dirty="0">
                <a:ea typeface="ＭＳ Ｐゴシック" charset="0"/>
              </a:rPr>
              <a:t>Should be capable of making accurate independent judgment, because patients life may depend on them</a:t>
            </a:r>
            <a:endParaRPr lang="en-US" b="1" dirty="0">
              <a:ea typeface="ＭＳ Ｐゴシック" charset="0"/>
            </a:endParaRPr>
          </a:p>
          <a:p>
            <a:pPr lvl="2" eaLnBrk="1" hangingPunct="1">
              <a:defRPr/>
            </a:pPr>
            <a:r>
              <a:rPr lang="en-US" b="1" dirty="0">
                <a:ea typeface="ＭＳ Ｐゴシック" charset="0"/>
              </a:rPr>
              <a:t>Technical orientation </a:t>
            </a:r>
          </a:p>
          <a:p>
            <a:pPr lvl="3" eaLnBrk="1" hangingPunct="1">
              <a:defRPr/>
            </a:pPr>
            <a:r>
              <a:rPr lang="en-US" dirty="0">
                <a:ea typeface="ＭＳ Ｐゴシック" charset="0"/>
              </a:rPr>
              <a:t>Constantly willing to learn new technical skills.</a:t>
            </a:r>
          </a:p>
          <a:p>
            <a:pPr eaLnBrk="1" hangingPunct="1">
              <a:defRPr/>
            </a:pPr>
            <a:r>
              <a:rPr lang="en-US" sz="2800" b="1" dirty="0">
                <a:ea typeface="ＭＳ Ｐゴシック" charset="0"/>
              </a:rPr>
              <a:t>Good Physical Health </a:t>
            </a:r>
            <a:endParaRPr lang="en-US" sz="2800" dirty="0">
              <a:ea typeface="ＭＳ Ｐゴシック" charset="0"/>
            </a:endParaRPr>
          </a:p>
          <a:p>
            <a:pPr eaLnBrk="1" hangingPunct="1">
              <a:buNone/>
              <a:defRPr/>
            </a:pPr>
            <a:r>
              <a:rPr lang="en-US" sz="2400" dirty="0">
                <a:ea typeface="ＭＳ Ｐゴシック" charset="0"/>
              </a:rPr>
              <a:t>	</a:t>
            </a:r>
            <a:r>
              <a:rPr lang="en-US" sz="2800" dirty="0">
                <a:ea typeface="ＭＳ Ｐゴシック" charset="0"/>
              </a:rPr>
              <a:t>Help to work hours, lifting the patient, able to handle the stress and be skilled in helping others </a:t>
            </a:r>
            <a:endParaRPr lang="en-US" sz="2800" b="1" dirty="0">
              <a:ea typeface="ＭＳ Ｐゴシック" charset="0"/>
            </a:endParaRPr>
          </a:p>
          <a:p>
            <a:pPr lvl="3" eaLnBrk="1" hangingPunct="1">
              <a:defRPr/>
            </a:pPr>
            <a:endParaRPr lang="en-US" dirty="0">
              <a:ea typeface="ＭＳ Ｐゴシック" charset="0"/>
            </a:endParaRPr>
          </a:p>
        </p:txBody>
      </p:sp>
    </p:spTree>
    <p:extLst>
      <p:ext uri="{BB962C8B-B14F-4D97-AF65-F5344CB8AC3E}">
        <p14:creationId xmlns:p14="http://schemas.microsoft.com/office/powerpoint/2010/main" val="843763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Grp="1" noChangeArrowheads="1"/>
          </p:cNvSpPr>
          <p:nvPr>
            <p:ph type="sldNum" sz="quarter" idx="11"/>
          </p:nvPr>
        </p:nvSpPr>
        <p:spPr/>
        <p:txBody>
          <a:bodyPr/>
          <a:lstStyle/>
          <a:p>
            <a:pPr>
              <a:defRPr/>
            </a:pPr>
            <a:fld id="{BF9B0F6D-AF3B-4C68-9C58-F13D13CA9545}" type="slidenum">
              <a:rPr lang="en-US"/>
              <a:pPr>
                <a:defRPr/>
              </a:pPr>
              <a:t>15</a:t>
            </a:fld>
            <a:endParaRPr lang="en-US"/>
          </a:p>
        </p:txBody>
      </p:sp>
      <p:sp>
        <p:nvSpPr>
          <p:cNvPr id="23554" name="Rectangle 2"/>
          <p:cNvSpPr>
            <a:spLocks noGrp="1" noChangeArrowheads="1"/>
          </p:cNvSpPr>
          <p:nvPr>
            <p:ph type="title" idx="4294967295"/>
          </p:nvPr>
        </p:nvSpPr>
        <p:spPr/>
        <p:txBody>
          <a:bodyPr>
            <a:normAutofit fontScale="90000"/>
          </a:bodyPr>
          <a:lstStyle/>
          <a:p>
            <a:pPr>
              <a:defRPr/>
            </a:pPr>
            <a:r>
              <a:rPr lang="en-US" dirty="0">
                <a:solidFill>
                  <a:srgbClr val="FF0000"/>
                </a:solidFill>
                <a:ea typeface="ＭＳ Ｐゴシック" pitchFamily="34" charset="-128"/>
              </a:rPr>
              <a:t>Advantages and Disadvantages</a:t>
            </a:r>
            <a:br>
              <a:rPr lang="en-US" dirty="0">
                <a:solidFill>
                  <a:srgbClr val="FF0000"/>
                </a:solidFill>
                <a:ea typeface="ＭＳ Ｐゴシック" pitchFamily="34" charset="-128"/>
              </a:rPr>
            </a:br>
            <a:r>
              <a:rPr lang="en-US" dirty="0">
                <a:solidFill>
                  <a:srgbClr val="FF0000"/>
                </a:solidFill>
                <a:ea typeface="ＭＳ Ｐゴシック" pitchFamily="34" charset="-128"/>
              </a:rPr>
              <a:t>of a Sonography Career</a:t>
            </a:r>
          </a:p>
        </p:txBody>
      </p:sp>
      <p:sp>
        <p:nvSpPr>
          <p:cNvPr id="23555" name="Rectangle 3"/>
          <p:cNvSpPr>
            <a:spLocks noGrp="1" noChangeArrowheads="1"/>
          </p:cNvSpPr>
          <p:nvPr>
            <p:ph type="body" idx="4294967295"/>
          </p:nvPr>
        </p:nvSpPr>
        <p:spPr/>
        <p:txBody>
          <a:bodyPr/>
          <a:lstStyle/>
          <a:p>
            <a:pPr>
              <a:defRPr/>
            </a:pPr>
            <a:r>
              <a:rPr lang="en-US" dirty="0">
                <a:ea typeface="ＭＳ Ｐゴシック" pitchFamily="34" charset="-128"/>
              </a:rPr>
              <a:t>Specialized education in ultrasound get respect of other allied health professionals and clinicians.</a:t>
            </a:r>
          </a:p>
          <a:p>
            <a:pPr>
              <a:defRPr/>
            </a:pPr>
            <a:r>
              <a:rPr lang="en-US" dirty="0">
                <a:ea typeface="ＭＳ Ｐゴシック" pitchFamily="34" charset="-128"/>
              </a:rPr>
              <a:t> Face the challenge of performing quality ultrasound examinations on difficult patients. </a:t>
            </a:r>
          </a:p>
        </p:txBody>
      </p:sp>
    </p:spTree>
    <p:extLst>
      <p:ext uri="{BB962C8B-B14F-4D97-AF65-F5344CB8AC3E}">
        <p14:creationId xmlns:p14="http://schemas.microsoft.com/office/powerpoint/2010/main" val="4197868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Grp="1" noChangeArrowheads="1"/>
          </p:cNvSpPr>
          <p:nvPr>
            <p:ph type="sldNum" sz="quarter" idx="11"/>
          </p:nvPr>
        </p:nvSpPr>
        <p:spPr/>
        <p:txBody>
          <a:bodyPr/>
          <a:lstStyle/>
          <a:p>
            <a:pPr>
              <a:defRPr/>
            </a:pPr>
            <a:fld id="{EACCFBAA-A0BC-4F77-9E91-0084DE72EF0B}" type="slidenum">
              <a:rPr lang="en-US"/>
              <a:pPr>
                <a:defRPr/>
              </a:pPr>
              <a:t>16</a:t>
            </a:fld>
            <a:endParaRPr lang="en-US"/>
          </a:p>
        </p:txBody>
      </p:sp>
      <p:sp>
        <p:nvSpPr>
          <p:cNvPr id="16386" name="Rectangle 2"/>
          <p:cNvSpPr>
            <a:spLocks noGrp="1" noChangeArrowheads="1"/>
          </p:cNvSpPr>
          <p:nvPr>
            <p:ph type="title" idx="4294967295"/>
          </p:nvPr>
        </p:nvSpPr>
        <p:spPr>
          <a:xfrm>
            <a:off x="152400" y="274638"/>
            <a:ext cx="8763000" cy="1143000"/>
          </a:xfrm>
        </p:spPr>
        <p:txBody>
          <a:bodyPr>
            <a:normAutofit fontScale="90000"/>
          </a:bodyPr>
          <a:lstStyle/>
          <a:p>
            <a:pPr>
              <a:defRPr/>
            </a:pPr>
            <a:r>
              <a:rPr lang="en-US" dirty="0">
                <a:solidFill>
                  <a:srgbClr val="FF0000"/>
                </a:solidFill>
                <a:ea typeface="ＭＳ Ｐゴシック" pitchFamily="34" charset="-128"/>
              </a:rPr>
              <a:t>Advantages and Disadvantages of a Sonography Career</a:t>
            </a:r>
          </a:p>
        </p:txBody>
      </p:sp>
      <p:sp>
        <p:nvSpPr>
          <p:cNvPr id="148483" name="Rectangle 3"/>
          <p:cNvSpPr>
            <a:spLocks noGrp="1" noChangeArrowheads="1"/>
          </p:cNvSpPr>
          <p:nvPr>
            <p:ph type="body" idx="4294967295"/>
          </p:nvPr>
        </p:nvSpPr>
        <p:spPr/>
        <p:txBody>
          <a:bodyPr/>
          <a:lstStyle/>
          <a:p>
            <a:pPr>
              <a:defRPr/>
            </a:pPr>
            <a:r>
              <a:rPr lang="en-US" dirty="0">
                <a:ea typeface="ＭＳ Ｐゴシック" pitchFamily="34" charset="-128"/>
              </a:rPr>
              <a:t>New applications in ultrasound  provide continual positive challenge.</a:t>
            </a:r>
          </a:p>
          <a:p>
            <a:pPr>
              <a:defRPr/>
            </a:pPr>
            <a:r>
              <a:rPr lang="en-US" dirty="0">
                <a:ea typeface="ＭＳ Ｐゴシック" pitchFamily="34" charset="-128"/>
              </a:rPr>
              <a:t>Flexible schedules and varieties in examinations, equipment, patient personalities</a:t>
            </a:r>
          </a:p>
          <a:p>
            <a:pPr>
              <a:defRPr/>
            </a:pPr>
            <a:r>
              <a:rPr lang="en-US" dirty="0">
                <a:ea typeface="ＭＳ Ｐゴシック" pitchFamily="34" charset="-128"/>
              </a:rPr>
              <a:t>Registered </a:t>
            </a:r>
            <a:r>
              <a:rPr lang="en-US" dirty="0" err="1">
                <a:ea typeface="ＭＳ Ｐゴシック" pitchFamily="34" charset="-128"/>
              </a:rPr>
              <a:t>Sonographers</a:t>
            </a:r>
            <a:r>
              <a:rPr lang="en-US" dirty="0">
                <a:ea typeface="ＭＳ Ｐゴシック" pitchFamily="34" charset="-128"/>
              </a:rPr>
              <a:t> have more employment opportunities with attractive salaries.</a:t>
            </a:r>
          </a:p>
          <a:p>
            <a:pPr>
              <a:defRPr/>
            </a:pPr>
            <a:endParaRPr lang="en-US" dirty="0">
              <a:ea typeface="ＭＳ Ｐゴシック" pitchFamily="34" charset="-128"/>
            </a:endParaRPr>
          </a:p>
        </p:txBody>
      </p:sp>
    </p:spTree>
    <p:extLst>
      <p:ext uri="{BB962C8B-B14F-4D97-AF65-F5344CB8AC3E}">
        <p14:creationId xmlns:p14="http://schemas.microsoft.com/office/powerpoint/2010/main" val="3119282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Grp="1" noChangeArrowheads="1"/>
          </p:cNvSpPr>
          <p:nvPr>
            <p:ph type="sldNum" sz="quarter" idx="11"/>
          </p:nvPr>
        </p:nvSpPr>
        <p:spPr/>
        <p:txBody>
          <a:bodyPr/>
          <a:lstStyle/>
          <a:p>
            <a:pPr>
              <a:defRPr/>
            </a:pPr>
            <a:fld id="{A1A65D0C-A742-4FC2-9ABE-EAC7ED091871}" type="slidenum">
              <a:rPr lang="en-US"/>
              <a:pPr>
                <a:defRPr/>
              </a:pPr>
              <a:t>17</a:t>
            </a:fld>
            <a:endParaRPr lang="en-US"/>
          </a:p>
        </p:txBody>
      </p:sp>
      <p:sp>
        <p:nvSpPr>
          <p:cNvPr id="24578" name="Rectangle 2"/>
          <p:cNvSpPr>
            <a:spLocks noGrp="1" noChangeArrowheads="1"/>
          </p:cNvSpPr>
          <p:nvPr>
            <p:ph type="title" idx="4294967295"/>
          </p:nvPr>
        </p:nvSpPr>
        <p:spPr/>
        <p:txBody>
          <a:bodyPr>
            <a:normAutofit fontScale="90000"/>
          </a:bodyPr>
          <a:lstStyle/>
          <a:p>
            <a:pPr>
              <a:defRPr/>
            </a:pPr>
            <a:r>
              <a:rPr lang="en-US" dirty="0">
                <a:solidFill>
                  <a:srgbClr val="FF0000"/>
                </a:solidFill>
                <a:ea typeface="ＭＳ Ｐゴシック" pitchFamily="34" charset="-128"/>
              </a:rPr>
              <a:t>Advantages and Disadvantages</a:t>
            </a:r>
            <a:br>
              <a:rPr lang="en-US" dirty="0">
                <a:solidFill>
                  <a:srgbClr val="FF0000"/>
                </a:solidFill>
                <a:ea typeface="ＭＳ Ｐゴシック" pitchFamily="34" charset="-128"/>
              </a:rPr>
            </a:br>
            <a:r>
              <a:rPr lang="en-US" dirty="0">
                <a:solidFill>
                  <a:srgbClr val="FF0000"/>
                </a:solidFill>
                <a:ea typeface="ＭＳ Ｐゴシック" pitchFamily="34" charset="-128"/>
              </a:rPr>
              <a:t>of a Sonography Career</a:t>
            </a:r>
          </a:p>
        </p:txBody>
      </p:sp>
      <p:sp>
        <p:nvSpPr>
          <p:cNvPr id="24579" name="Rectangle 3"/>
          <p:cNvSpPr>
            <a:spLocks noGrp="1" noChangeArrowheads="1"/>
          </p:cNvSpPr>
          <p:nvPr>
            <p:ph type="body" idx="4294967295"/>
          </p:nvPr>
        </p:nvSpPr>
        <p:spPr/>
        <p:txBody>
          <a:bodyPr>
            <a:normAutofit/>
          </a:bodyPr>
          <a:lstStyle/>
          <a:p>
            <a:pPr>
              <a:buNone/>
              <a:defRPr/>
            </a:pPr>
            <a:endParaRPr lang="en-US" dirty="0">
              <a:ea typeface="ＭＳ Ｐゴシック" pitchFamily="34" charset="-128"/>
            </a:endParaRPr>
          </a:p>
          <a:p>
            <a:pPr>
              <a:buFont typeface="Arial" charset="0"/>
              <a:buChar char="•"/>
              <a:defRPr/>
            </a:pPr>
            <a:r>
              <a:rPr lang="en-US" dirty="0">
                <a:ea typeface="ＭＳ Ｐゴシック" pitchFamily="34" charset="-128"/>
              </a:rPr>
              <a:t>Changes in medical care and decreased staffing have increased workloads.</a:t>
            </a:r>
          </a:p>
          <a:p>
            <a:pPr>
              <a:buFont typeface="Arial" charset="0"/>
              <a:buChar char="•"/>
              <a:defRPr/>
            </a:pPr>
            <a:r>
              <a:rPr lang="en-US" dirty="0">
                <a:ea typeface="ＭＳ Ｐゴシック" pitchFamily="34" charset="-128"/>
              </a:rPr>
              <a:t>Hours of continual scanning may lead to tendinitis, arm and shoulder pain, and back strain.</a:t>
            </a:r>
          </a:p>
          <a:p>
            <a:pPr>
              <a:buFont typeface="Arial" charset="0"/>
              <a:buChar char="•"/>
              <a:defRPr/>
            </a:pPr>
            <a:r>
              <a:rPr lang="en-US" dirty="0">
                <a:ea typeface="ＭＳ Ｐゴシック" pitchFamily="34" charset="-128"/>
              </a:rPr>
              <a:t>Working with terminally ill patients can lead to fatigue and depression.</a:t>
            </a:r>
          </a:p>
        </p:txBody>
      </p:sp>
    </p:spTree>
    <p:extLst>
      <p:ext uri="{BB962C8B-B14F-4D97-AF65-F5344CB8AC3E}">
        <p14:creationId xmlns:p14="http://schemas.microsoft.com/office/powerpoint/2010/main" val="383795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Grp="1" noChangeArrowheads="1"/>
          </p:cNvSpPr>
          <p:nvPr>
            <p:ph type="sldNum" sz="quarter" idx="11"/>
          </p:nvPr>
        </p:nvSpPr>
        <p:spPr/>
        <p:txBody>
          <a:bodyPr/>
          <a:lstStyle/>
          <a:p>
            <a:pPr>
              <a:defRPr/>
            </a:pPr>
            <a:fld id="{1F5C12B1-80EC-42DA-AEED-69A63BB9C218}" type="slidenum">
              <a:rPr lang="en-US"/>
              <a:pPr>
                <a:defRPr/>
              </a:pPr>
              <a:t>18</a:t>
            </a:fld>
            <a:endParaRPr lang="en-US"/>
          </a:p>
        </p:txBody>
      </p:sp>
      <p:sp>
        <p:nvSpPr>
          <p:cNvPr id="18434" name="Rectangle 2"/>
          <p:cNvSpPr>
            <a:spLocks noGrp="1" noChangeArrowheads="1"/>
          </p:cNvSpPr>
          <p:nvPr>
            <p:ph type="title" idx="4294967295"/>
          </p:nvPr>
        </p:nvSpPr>
        <p:spPr/>
        <p:txBody>
          <a:bodyPr/>
          <a:lstStyle/>
          <a:p>
            <a:pPr>
              <a:defRPr/>
            </a:pPr>
            <a:r>
              <a:rPr lang="en-US" dirty="0">
                <a:solidFill>
                  <a:srgbClr val="FF0000"/>
                </a:solidFill>
                <a:ea typeface="ＭＳ Ｐゴシック" pitchFamily="34" charset="-128"/>
              </a:rPr>
              <a:t>Job Market in Sonography</a:t>
            </a:r>
          </a:p>
        </p:txBody>
      </p:sp>
      <p:sp>
        <p:nvSpPr>
          <p:cNvPr id="25603" name="Rectangle 3"/>
          <p:cNvSpPr>
            <a:spLocks noGrp="1" noChangeArrowheads="1"/>
          </p:cNvSpPr>
          <p:nvPr>
            <p:ph type="body" idx="4294967295"/>
          </p:nvPr>
        </p:nvSpPr>
        <p:spPr/>
        <p:txBody>
          <a:bodyPr>
            <a:normAutofit fontScale="92500" lnSpcReduction="10000"/>
          </a:bodyPr>
          <a:lstStyle/>
          <a:p>
            <a:pPr>
              <a:buFont typeface="Arial" charset="0"/>
              <a:buChar char="•"/>
              <a:defRPr/>
            </a:pPr>
            <a:r>
              <a:rPr lang="en-US" dirty="0">
                <a:ea typeface="ＭＳ Ｐゴシック" pitchFamily="34" charset="-128"/>
              </a:rPr>
              <a:t>Is at the top of all medical imaging pay scales</a:t>
            </a:r>
          </a:p>
          <a:p>
            <a:pPr>
              <a:buFont typeface="Arial" charset="0"/>
              <a:buChar char="•"/>
              <a:defRPr/>
            </a:pPr>
            <a:r>
              <a:rPr lang="en-US" dirty="0">
                <a:ea typeface="ＭＳ Ｐゴシック" pitchFamily="34" charset="-128"/>
              </a:rPr>
              <a:t>Demand for registered </a:t>
            </a:r>
            <a:r>
              <a:rPr lang="en-US" dirty="0" err="1">
                <a:ea typeface="ＭＳ Ｐゴシック" pitchFamily="34" charset="-128"/>
              </a:rPr>
              <a:t>Sonographers</a:t>
            </a:r>
            <a:r>
              <a:rPr lang="en-US" dirty="0">
                <a:ea typeface="ＭＳ Ｐゴシック" pitchFamily="34" charset="-128"/>
              </a:rPr>
              <a:t> exceeds supply nationwide.</a:t>
            </a:r>
          </a:p>
          <a:p>
            <a:pPr>
              <a:spcAft>
                <a:spcPct val="0"/>
              </a:spcAft>
              <a:buFont typeface="Arial" charset="0"/>
              <a:buChar char="•"/>
              <a:defRPr/>
            </a:pPr>
            <a:r>
              <a:rPr lang="en-US" dirty="0">
                <a:ea typeface="ＭＳ Ｐゴシック" pitchFamily="34" charset="-128"/>
              </a:rPr>
              <a:t>Positions at hospital or other health care facilities may include: </a:t>
            </a:r>
          </a:p>
          <a:p>
            <a:pPr lvl="1">
              <a:buFont typeface="Arial" charset="0"/>
              <a:buChar char="•"/>
              <a:defRPr/>
            </a:pPr>
            <a:r>
              <a:rPr lang="en-US" dirty="0">
                <a:ea typeface="ＭＳ Ｐゴシック" pitchFamily="34" charset="-128"/>
              </a:rPr>
              <a:t>Director of Imaging, Technical Director, Supervisor</a:t>
            </a:r>
          </a:p>
          <a:p>
            <a:pPr lvl="1">
              <a:buFont typeface="Arial" charset="0"/>
              <a:buChar char="•"/>
              <a:defRPr/>
            </a:pPr>
            <a:r>
              <a:rPr lang="en-US" dirty="0">
                <a:ea typeface="ＭＳ Ｐゴシック" pitchFamily="34" charset="-128"/>
              </a:rPr>
              <a:t>Chief </a:t>
            </a:r>
            <a:r>
              <a:rPr lang="en-US" dirty="0" err="1">
                <a:ea typeface="ＭＳ Ｐゴシック" pitchFamily="34" charset="-128"/>
              </a:rPr>
              <a:t>Sonographer</a:t>
            </a:r>
            <a:r>
              <a:rPr lang="en-US" dirty="0">
                <a:ea typeface="ＭＳ Ｐゴシック" pitchFamily="34" charset="-128"/>
              </a:rPr>
              <a:t>, </a:t>
            </a:r>
            <a:r>
              <a:rPr lang="en-US" dirty="0" err="1">
                <a:ea typeface="ＭＳ Ｐゴシック" pitchFamily="34" charset="-128"/>
              </a:rPr>
              <a:t>Sonographer</a:t>
            </a:r>
            <a:r>
              <a:rPr lang="en-US" dirty="0">
                <a:ea typeface="ＭＳ Ｐゴシック" pitchFamily="34" charset="-128"/>
              </a:rPr>
              <a:t> Educator </a:t>
            </a:r>
          </a:p>
          <a:p>
            <a:pPr lvl="1">
              <a:buFont typeface="Arial" charset="0"/>
              <a:buChar char="•"/>
              <a:defRPr/>
            </a:pPr>
            <a:r>
              <a:rPr lang="en-US" dirty="0">
                <a:ea typeface="ＭＳ Ｐゴシック" pitchFamily="34" charset="-128"/>
              </a:rPr>
              <a:t>Research </a:t>
            </a:r>
            <a:r>
              <a:rPr lang="en-US" dirty="0" err="1">
                <a:ea typeface="ＭＳ Ｐゴシック" pitchFamily="34" charset="-128"/>
              </a:rPr>
              <a:t>Sonographer</a:t>
            </a:r>
            <a:r>
              <a:rPr lang="en-US" dirty="0">
                <a:ea typeface="ＭＳ Ｐゴシック" pitchFamily="34" charset="-128"/>
              </a:rPr>
              <a:t>, Clinical Staff </a:t>
            </a:r>
            <a:r>
              <a:rPr lang="en-US" dirty="0" err="1">
                <a:ea typeface="ＭＳ Ｐゴシック" pitchFamily="34" charset="-128"/>
              </a:rPr>
              <a:t>Sonographer</a:t>
            </a:r>
            <a:r>
              <a:rPr lang="en-US" dirty="0">
                <a:ea typeface="ＭＳ Ｐゴシック" pitchFamily="34" charset="-128"/>
              </a:rPr>
              <a:t>, Clinical Instructor</a:t>
            </a:r>
          </a:p>
          <a:p>
            <a:pPr lvl="1">
              <a:buFont typeface="Arial" charset="0"/>
              <a:buChar char="•"/>
              <a:defRPr/>
            </a:pPr>
            <a:r>
              <a:rPr lang="en-US" dirty="0">
                <a:ea typeface="ＭＳ Ｐゴシック" pitchFamily="34" charset="-128"/>
              </a:rPr>
              <a:t>Independent business partners</a:t>
            </a:r>
          </a:p>
          <a:p>
            <a:pPr lvl="1">
              <a:buFont typeface="Arial" charset="0"/>
              <a:buChar char="•"/>
              <a:defRPr/>
            </a:pPr>
            <a:endParaRPr lang="en-US" dirty="0">
              <a:ea typeface="ＭＳ Ｐゴシック" pitchFamily="34" charset="-128"/>
            </a:endParaRPr>
          </a:p>
        </p:txBody>
      </p:sp>
    </p:spTree>
    <p:extLst>
      <p:ext uri="{BB962C8B-B14F-4D97-AF65-F5344CB8AC3E}">
        <p14:creationId xmlns:p14="http://schemas.microsoft.com/office/powerpoint/2010/main" val="3033836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Grp="1" noChangeArrowheads="1"/>
          </p:cNvSpPr>
          <p:nvPr>
            <p:ph type="sldNum" sz="quarter" idx="11"/>
          </p:nvPr>
        </p:nvSpPr>
        <p:spPr/>
        <p:txBody>
          <a:bodyPr/>
          <a:lstStyle/>
          <a:p>
            <a:pPr>
              <a:defRPr/>
            </a:pPr>
            <a:fld id="{D9DBEE47-B261-429C-BE33-B1864DF5FC82}" type="slidenum">
              <a:rPr lang="en-US"/>
              <a:pPr>
                <a:defRPr/>
              </a:pPr>
              <a:t>19</a:t>
            </a:fld>
            <a:endParaRPr lang="en-US"/>
          </a:p>
        </p:txBody>
      </p:sp>
      <p:sp>
        <p:nvSpPr>
          <p:cNvPr id="9218" name="Rectangle 2"/>
          <p:cNvSpPr>
            <a:spLocks noGrp="1" noChangeArrowheads="1"/>
          </p:cNvSpPr>
          <p:nvPr>
            <p:ph type="title"/>
          </p:nvPr>
        </p:nvSpPr>
        <p:spPr/>
        <p:txBody>
          <a:bodyPr/>
          <a:lstStyle/>
          <a:p>
            <a:pPr eaLnBrk="1" hangingPunct="1">
              <a:defRPr/>
            </a:pPr>
            <a:r>
              <a:rPr lang="en-US" dirty="0">
                <a:solidFill>
                  <a:srgbClr val="FF0000"/>
                </a:solidFill>
                <a:cs typeface="+mj-cs"/>
              </a:rPr>
              <a:t>Art of Scanning</a:t>
            </a:r>
          </a:p>
        </p:txBody>
      </p:sp>
      <p:sp>
        <p:nvSpPr>
          <p:cNvPr id="9219" name="Rectangle 3"/>
          <p:cNvSpPr>
            <a:spLocks noGrp="1" noChangeArrowheads="1"/>
          </p:cNvSpPr>
          <p:nvPr>
            <p:ph type="body" idx="1"/>
          </p:nvPr>
        </p:nvSpPr>
        <p:spPr>
          <a:xfrm>
            <a:off x="457200" y="1600200"/>
            <a:ext cx="8229600" cy="4591050"/>
          </a:xfrm>
        </p:spPr>
        <p:txBody>
          <a:bodyPr/>
          <a:lstStyle/>
          <a:p>
            <a:pPr marL="384048" eaLnBrk="1" hangingPunct="1">
              <a:spcBef>
                <a:spcPts val="0"/>
              </a:spcBef>
              <a:defRPr/>
            </a:pPr>
            <a:r>
              <a:rPr lang="en-US" dirty="0">
                <a:cs typeface="+mn-cs"/>
              </a:rPr>
              <a:t>Manual dexterity</a:t>
            </a:r>
          </a:p>
          <a:p>
            <a:pPr marL="384048" eaLnBrk="1" hangingPunct="1">
              <a:spcBef>
                <a:spcPts val="0"/>
              </a:spcBef>
              <a:defRPr/>
            </a:pPr>
            <a:r>
              <a:rPr lang="en-US" dirty="0">
                <a:cs typeface="+mn-cs"/>
              </a:rPr>
              <a:t>Hand-eye coordination</a:t>
            </a:r>
          </a:p>
          <a:p>
            <a:pPr marL="384048" eaLnBrk="1" hangingPunct="1">
              <a:spcBef>
                <a:spcPts val="0"/>
              </a:spcBef>
              <a:defRPr/>
            </a:pPr>
            <a:r>
              <a:rPr lang="en-US" dirty="0">
                <a:cs typeface="+mn-cs"/>
              </a:rPr>
              <a:t>Conceptualization of two-dimensional into three-dimensional </a:t>
            </a:r>
            <a:r>
              <a:rPr lang="en-US" dirty="0"/>
              <a:t>anatomy </a:t>
            </a:r>
            <a:endParaRPr lang="en-US" dirty="0">
              <a:cs typeface="+mn-cs"/>
            </a:endParaRPr>
          </a:p>
          <a:p>
            <a:pPr marL="384048" eaLnBrk="1" hangingPunct="1">
              <a:spcBef>
                <a:spcPts val="0"/>
              </a:spcBef>
              <a:defRPr/>
            </a:pPr>
            <a:r>
              <a:rPr lang="en-US" dirty="0">
                <a:cs typeface="+mn-cs"/>
              </a:rPr>
              <a:t>Understanding of anatomy, physiology, pathology, instrumentation, image artifacts, and transducer characteristics</a:t>
            </a:r>
          </a:p>
        </p:txBody>
      </p:sp>
    </p:spTree>
    <p:extLst>
      <p:ext uri="{BB962C8B-B14F-4D97-AF65-F5344CB8AC3E}">
        <p14:creationId xmlns:p14="http://schemas.microsoft.com/office/powerpoint/2010/main" val="2784050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dirty="0">
                <a:solidFill>
                  <a:srgbClr val="FF0000"/>
                </a:solidFill>
              </a:rPr>
              <a:t>Responsibilities of the Sonographer</a:t>
            </a:r>
          </a:p>
        </p:txBody>
      </p:sp>
      <p:sp>
        <p:nvSpPr>
          <p:cNvPr id="5123" name="Rectangle 3"/>
          <p:cNvSpPr>
            <a:spLocks noGrp="1" noChangeArrowheads="1"/>
          </p:cNvSpPr>
          <p:nvPr>
            <p:ph type="body" idx="1"/>
          </p:nvPr>
        </p:nvSpPr>
        <p:spPr/>
        <p:txBody>
          <a:bodyPr/>
          <a:lstStyle/>
          <a:p>
            <a:r>
              <a:rPr lang="en-US" altLang="en-US" dirty="0"/>
              <a:t>Obtain and record patient data pertinent to the ultrasound</a:t>
            </a:r>
          </a:p>
          <a:p>
            <a:r>
              <a:rPr lang="en-US" altLang="en-US" dirty="0"/>
              <a:t>Knowledge of ultrasound system</a:t>
            </a:r>
          </a:p>
          <a:p>
            <a:r>
              <a:rPr lang="en-US" altLang="en-US" dirty="0"/>
              <a:t>Provide quality patient care</a:t>
            </a:r>
          </a:p>
          <a:p>
            <a:r>
              <a:rPr lang="en-US" altLang="en-US" dirty="0"/>
              <a:t>Knowledge of Universal Precautions </a:t>
            </a:r>
          </a:p>
          <a:p>
            <a:endParaRPr lang="en-US" altLang="en-US" dirty="0"/>
          </a:p>
        </p:txBody>
      </p:sp>
      <p:sp>
        <p:nvSpPr>
          <p:cNvPr id="11" name="Slide Number Placeholder 10"/>
          <p:cNvSpPr>
            <a:spLocks noGrp="1"/>
          </p:cNvSpPr>
          <p:nvPr>
            <p:ph type="sldNum" sz="quarter" idx="11"/>
          </p:nvPr>
        </p:nvSpPr>
        <p:spPr/>
        <p:txBody>
          <a:bodyPr/>
          <a:lstStyle/>
          <a:p>
            <a:fld id="{CFAB7BCF-FF84-427B-8FC0-CAEDD66DC642}" type="slidenum">
              <a:rPr lang="en-US" smtClean="0"/>
              <a:pPr/>
              <a:t>20</a:t>
            </a:fld>
            <a:endParaRPr lang="en-US" dirty="0"/>
          </a:p>
        </p:txBody>
      </p:sp>
    </p:spTree>
    <p:extLst>
      <p:ext uri="{BB962C8B-B14F-4D97-AF65-F5344CB8AC3E}">
        <p14:creationId xmlns:p14="http://schemas.microsoft.com/office/powerpoint/2010/main" val="3562345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74638"/>
            <a:ext cx="8229600" cy="944562"/>
          </a:xfrm>
        </p:spPr>
        <p:txBody>
          <a:bodyPr>
            <a:normAutofit/>
          </a:bodyPr>
          <a:lstStyle/>
          <a:p>
            <a:r>
              <a:rPr lang="en-US" altLang="en-US" dirty="0">
                <a:solidFill>
                  <a:srgbClr val="FF0000"/>
                </a:solidFill>
              </a:rPr>
              <a:t>Responsibilities of the Sonographer</a:t>
            </a:r>
          </a:p>
        </p:txBody>
      </p:sp>
      <p:sp>
        <p:nvSpPr>
          <p:cNvPr id="6147" name="Rectangle 3"/>
          <p:cNvSpPr>
            <a:spLocks noGrp="1" noChangeArrowheads="1"/>
          </p:cNvSpPr>
          <p:nvPr>
            <p:ph type="body" idx="1"/>
          </p:nvPr>
        </p:nvSpPr>
        <p:spPr/>
        <p:txBody>
          <a:bodyPr/>
          <a:lstStyle/>
          <a:p>
            <a:r>
              <a:rPr lang="en-US" altLang="en-US" dirty="0"/>
              <a:t>Acquire, analyze, modify, and select images to record and present to interpreting physician for diagnosis</a:t>
            </a:r>
          </a:p>
          <a:p>
            <a:r>
              <a:rPr lang="en-US" altLang="en-US" dirty="0"/>
              <a:t>Use ultrasound terminology to prepare a written technical summary of ultrasound findings.</a:t>
            </a:r>
          </a:p>
          <a:p>
            <a:r>
              <a:rPr lang="en-US" altLang="en-US" dirty="0">
                <a:latin typeface="Arial" charset="0"/>
                <a:cs typeface="Arial" charset="0"/>
              </a:rPr>
              <a:t>Technical report accompanies the recorded ultrasound images. </a:t>
            </a:r>
          </a:p>
          <a:p>
            <a:endParaRPr lang="en-US" altLang="en-US" dirty="0"/>
          </a:p>
          <a:p>
            <a:endParaRPr lang="en-US" altLang="en-US" dirty="0"/>
          </a:p>
        </p:txBody>
      </p:sp>
      <p:sp>
        <p:nvSpPr>
          <p:cNvPr id="11" name="Slide Number Placeholder 10"/>
          <p:cNvSpPr>
            <a:spLocks noGrp="1"/>
          </p:cNvSpPr>
          <p:nvPr>
            <p:ph type="sldNum" sz="quarter" idx="11"/>
          </p:nvPr>
        </p:nvSpPr>
        <p:spPr/>
        <p:txBody>
          <a:bodyPr/>
          <a:lstStyle/>
          <a:p>
            <a:fld id="{CFAB7BCF-FF84-427B-8FC0-CAEDD66DC642}" type="slidenum">
              <a:rPr lang="en-US" smtClean="0"/>
              <a:pPr/>
              <a:t>21</a:t>
            </a:fld>
            <a:endParaRPr lang="en-US" dirty="0"/>
          </a:p>
        </p:txBody>
      </p:sp>
    </p:spTree>
    <p:extLst>
      <p:ext uri="{BB962C8B-B14F-4D97-AF65-F5344CB8AC3E}">
        <p14:creationId xmlns:p14="http://schemas.microsoft.com/office/powerpoint/2010/main" val="3266805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Grp="1" noChangeArrowheads="1"/>
          </p:cNvSpPr>
          <p:nvPr>
            <p:ph type="sldNum" sz="quarter" idx="11"/>
          </p:nvPr>
        </p:nvSpPr>
        <p:spPr/>
        <p:txBody>
          <a:bodyPr/>
          <a:lstStyle/>
          <a:p>
            <a:pPr>
              <a:defRPr/>
            </a:pPr>
            <a:fld id="{88F7731E-8792-45A5-9F76-F1970F9953B5}" type="slidenum">
              <a:rPr lang="en-US"/>
              <a:pPr>
                <a:defRPr/>
              </a:pPr>
              <a:t>22</a:t>
            </a:fld>
            <a:endParaRPr lang="en-US"/>
          </a:p>
        </p:txBody>
      </p:sp>
      <p:sp>
        <p:nvSpPr>
          <p:cNvPr id="11266" name="Rectangle 2"/>
          <p:cNvSpPr>
            <a:spLocks noGrp="1" noChangeArrowheads="1"/>
          </p:cNvSpPr>
          <p:nvPr>
            <p:ph type="title"/>
          </p:nvPr>
        </p:nvSpPr>
        <p:spPr/>
        <p:txBody>
          <a:bodyPr>
            <a:normAutofit/>
          </a:bodyPr>
          <a:lstStyle/>
          <a:p>
            <a:pPr eaLnBrk="1" hangingPunct="1">
              <a:defRPr/>
            </a:pPr>
            <a:r>
              <a:rPr lang="en-US" dirty="0">
                <a:solidFill>
                  <a:srgbClr val="FF0000"/>
                </a:solidFill>
              </a:rPr>
              <a:t>Obligations of the </a:t>
            </a:r>
            <a:r>
              <a:rPr lang="en-US" dirty="0" err="1">
                <a:solidFill>
                  <a:srgbClr val="FF0000"/>
                </a:solidFill>
              </a:rPr>
              <a:t>sonographer</a:t>
            </a:r>
            <a:endParaRPr lang="en-US" dirty="0">
              <a:solidFill>
                <a:srgbClr val="FF0000"/>
              </a:solidFill>
              <a:cs typeface="+mj-cs"/>
            </a:endParaRPr>
          </a:p>
        </p:txBody>
      </p:sp>
      <p:sp>
        <p:nvSpPr>
          <p:cNvPr id="11267" name="Rectangle 3"/>
          <p:cNvSpPr>
            <a:spLocks noGrp="1" noChangeArrowheads="1"/>
          </p:cNvSpPr>
          <p:nvPr>
            <p:ph type="body" idx="1"/>
          </p:nvPr>
        </p:nvSpPr>
        <p:spPr>
          <a:xfrm>
            <a:off x="457200" y="1600200"/>
            <a:ext cx="8229600" cy="4648200"/>
          </a:xfrm>
        </p:spPr>
        <p:txBody>
          <a:bodyPr>
            <a:normAutofit fontScale="92500" lnSpcReduction="10000"/>
          </a:bodyPr>
          <a:lstStyle/>
          <a:p>
            <a:pPr marL="283464" indent="-347472" eaLnBrk="1" hangingPunct="1">
              <a:spcBef>
                <a:spcPts val="0"/>
              </a:spcBef>
              <a:spcAft>
                <a:spcPts val="1800"/>
              </a:spcAft>
              <a:defRPr/>
            </a:pPr>
            <a:r>
              <a:rPr lang="en-US" sz="2400" dirty="0">
                <a:cs typeface="+mn-cs"/>
              </a:rPr>
              <a:t>Become knowledgeable about the equipment.</a:t>
            </a:r>
          </a:p>
          <a:p>
            <a:pPr marL="283464" indent="-347472" eaLnBrk="1" hangingPunct="1">
              <a:spcBef>
                <a:spcPts val="0"/>
              </a:spcBef>
              <a:spcAft>
                <a:spcPts val="1800"/>
              </a:spcAft>
              <a:defRPr/>
            </a:pPr>
            <a:r>
              <a:rPr lang="en-US" sz="2400" dirty="0">
                <a:cs typeface="+mn-cs"/>
              </a:rPr>
              <a:t>Review the operator</a:t>
            </a:r>
            <a:r>
              <a:rPr lang="en-US" altLang="ja-JP" sz="2400" dirty="0">
                <a:cs typeface="+mn-cs"/>
              </a:rPr>
              <a:t>’</a:t>
            </a:r>
            <a:r>
              <a:rPr lang="en-US" sz="2400" dirty="0">
                <a:cs typeface="+mn-cs"/>
              </a:rPr>
              <a:t>s manual.</a:t>
            </a:r>
          </a:p>
          <a:p>
            <a:pPr marL="283464" indent="-347472" eaLnBrk="1" hangingPunct="1">
              <a:spcBef>
                <a:spcPts val="0"/>
              </a:spcBef>
              <a:spcAft>
                <a:spcPts val="1800"/>
              </a:spcAft>
              <a:defRPr/>
            </a:pPr>
            <a:r>
              <a:rPr lang="en-US" sz="2400" dirty="0">
                <a:cs typeface="+mn-cs"/>
              </a:rPr>
              <a:t>Understand the protocol for examinations.</a:t>
            </a:r>
          </a:p>
          <a:p>
            <a:pPr marL="283464" indent="-347472" eaLnBrk="1" hangingPunct="1">
              <a:spcBef>
                <a:spcPts val="0"/>
              </a:spcBef>
              <a:spcAft>
                <a:spcPts val="1800"/>
              </a:spcAft>
              <a:defRPr/>
            </a:pPr>
            <a:r>
              <a:rPr lang="en-US" sz="2400" dirty="0">
                <a:cs typeface="+mn-cs"/>
              </a:rPr>
              <a:t>Know how to read a patient order form and which questions the clinician needs answered.</a:t>
            </a:r>
          </a:p>
          <a:p>
            <a:pPr marL="283464" indent="-347472" eaLnBrk="1" hangingPunct="1">
              <a:spcBef>
                <a:spcPts val="0"/>
              </a:spcBef>
              <a:spcAft>
                <a:spcPts val="1800"/>
              </a:spcAft>
              <a:defRPr/>
            </a:pPr>
            <a:r>
              <a:rPr lang="en-US" sz="2400" dirty="0">
                <a:cs typeface="+mn-cs"/>
              </a:rPr>
              <a:t>Check the patient’s identification before each scan.</a:t>
            </a:r>
          </a:p>
          <a:p>
            <a:pPr marL="283464" indent="-347472" eaLnBrk="1" hangingPunct="1">
              <a:spcBef>
                <a:spcPts val="0"/>
              </a:spcBef>
              <a:spcAft>
                <a:spcPts val="1800"/>
              </a:spcAft>
              <a:defRPr/>
            </a:pPr>
            <a:r>
              <a:rPr lang="en-US" sz="2400" dirty="0">
                <a:cs typeface="+mn-cs"/>
              </a:rPr>
              <a:t>Introduce yourself to the patient; explain the procedure.</a:t>
            </a:r>
          </a:p>
          <a:p>
            <a:pPr marL="283464" indent="-347472" eaLnBrk="1" hangingPunct="1">
              <a:spcBef>
                <a:spcPts val="0"/>
              </a:spcBef>
              <a:spcAft>
                <a:spcPts val="1800"/>
              </a:spcAft>
              <a:defRPr/>
            </a:pPr>
            <a:r>
              <a:rPr lang="en-US" sz="2400" dirty="0">
                <a:cs typeface="+mn-cs"/>
              </a:rPr>
              <a:t>Keep the conversation professional.</a:t>
            </a:r>
          </a:p>
          <a:p>
            <a:pPr marL="283464" indent="-347472" eaLnBrk="1" hangingPunct="1">
              <a:spcBef>
                <a:spcPts val="0"/>
              </a:spcBef>
              <a:spcAft>
                <a:spcPts val="1800"/>
              </a:spcAft>
              <a:defRPr/>
            </a:pPr>
            <a:r>
              <a:rPr lang="en-US" sz="2400" dirty="0">
                <a:cs typeface="+mn-cs"/>
              </a:rPr>
              <a:t>Maintain confidentiality.</a:t>
            </a:r>
          </a:p>
        </p:txBody>
      </p:sp>
    </p:spTree>
    <p:extLst>
      <p:ext uri="{BB962C8B-B14F-4D97-AF65-F5344CB8AC3E}">
        <p14:creationId xmlns:p14="http://schemas.microsoft.com/office/powerpoint/2010/main" val="2695939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4686C-D9D8-69B0-92EE-5C9F23E672A2}"/>
              </a:ext>
            </a:extLst>
          </p:cNvPr>
          <p:cNvSpPr>
            <a:spLocks noGrp="1"/>
          </p:cNvSpPr>
          <p:nvPr>
            <p:ph type="title"/>
          </p:nvPr>
        </p:nvSpPr>
        <p:spPr/>
        <p:txBody>
          <a:bodyPr/>
          <a:lstStyle/>
          <a:p>
            <a:r>
              <a:rPr lang="en-US" dirty="0"/>
              <a:t>           Research Statistics and Design for </a:t>
            </a:r>
            <a:br>
              <a:rPr lang="en-US" dirty="0"/>
            </a:br>
            <a:r>
              <a:rPr lang="en-US" dirty="0"/>
              <a:t>                 Professional Development</a:t>
            </a:r>
          </a:p>
        </p:txBody>
      </p:sp>
      <p:sp>
        <p:nvSpPr>
          <p:cNvPr id="3" name="Content Placeholder 2">
            <a:extLst>
              <a:ext uri="{FF2B5EF4-FFF2-40B4-BE49-F238E27FC236}">
                <a16:creationId xmlns:a16="http://schemas.microsoft.com/office/drawing/2014/main" id="{BE168B28-0349-8248-7553-CC7CD9810AD1}"/>
              </a:ext>
            </a:extLst>
          </p:cNvPr>
          <p:cNvSpPr>
            <a:spLocks noGrp="1"/>
          </p:cNvSpPr>
          <p:nvPr>
            <p:ph idx="1"/>
          </p:nvPr>
        </p:nvSpPr>
        <p:spPr/>
        <p:txBody>
          <a:bodyPr/>
          <a:lstStyle/>
          <a:p>
            <a:r>
              <a:rPr lang="en-US" i="1" dirty="0"/>
              <a:t>Research statistics and design</a:t>
            </a:r>
            <a:r>
              <a:rPr lang="en-US" dirty="0"/>
              <a:t> refers to the structured plan for conducting a study (research design) and the use of statistical methods (research statistics) to collect, analyze, and interpret data in order to answer research questions reliably and validly.</a:t>
            </a:r>
          </a:p>
          <a:p>
            <a:r>
              <a:rPr lang="en-US" dirty="0"/>
              <a:t>Sonographers can advance their professional development in </a:t>
            </a:r>
            <a:r>
              <a:rPr lang="en-US" i="1" dirty="0"/>
              <a:t>research, statistics, and design</a:t>
            </a:r>
            <a:r>
              <a:rPr lang="en-US" dirty="0"/>
              <a:t> by engaging with continuing education resources that emphasize evidence-based practice, competency milestones, and applied statistical literacy.</a:t>
            </a:r>
          </a:p>
          <a:p>
            <a:endParaRPr lang="en-US" dirty="0"/>
          </a:p>
        </p:txBody>
      </p:sp>
    </p:spTree>
    <p:extLst>
      <p:ext uri="{BB962C8B-B14F-4D97-AF65-F5344CB8AC3E}">
        <p14:creationId xmlns:p14="http://schemas.microsoft.com/office/powerpoint/2010/main" val="3837756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BC472-DB49-E156-1E28-B9F09D4692DA}"/>
              </a:ext>
            </a:extLst>
          </p:cNvPr>
          <p:cNvSpPr>
            <a:spLocks noGrp="1"/>
          </p:cNvSpPr>
          <p:nvPr>
            <p:ph type="title"/>
          </p:nvPr>
        </p:nvSpPr>
        <p:spPr>
          <a:xfrm>
            <a:off x="628650" y="1131095"/>
            <a:ext cx="7886700" cy="661338"/>
          </a:xfrm>
        </p:spPr>
        <p:txBody>
          <a:bodyPr/>
          <a:lstStyle/>
          <a:p>
            <a:r>
              <a:rPr lang="en-US" dirty="0"/>
              <a:t>                            Breaking It Down</a:t>
            </a:r>
          </a:p>
        </p:txBody>
      </p:sp>
      <p:sp>
        <p:nvSpPr>
          <p:cNvPr id="3" name="Content Placeholder 2">
            <a:extLst>
              <a:ext uri="{FF2B5EF4-FFF2-40B4-BE49-F238E27FC236}">
                <a16:creationId xmlns:a16="http://schemas.microsoft.com/office/drawing/2014/main" id="{F2EF89E2-5475-3D62-3D96-1F85E936F791}"/>
              </a:ext>
            </a:extLst>
          </p:cNvPr>
          <p:cNvSpPr>
            <a:spLocks noGrp="1"/>
          </p:cNvSpPr>
          <p:nvPr>
            <p:ph idx="1"/>
          </p:nvPr>
        </p:nvSpPr>
        <p:spPr>
          <a:xfrm>
            <a:off x="628650" y="1792432"/>
            <a:ext cx="7886700" cy="4039985"/>
          </a:xfrm>
        </p:spPr>
        <p:txBody>
          <a:bodyPr/>
          <a:lstStyle/>
          <a:p>
            <a:pPr marL="0" indent="0">
              <a:buNone/>
            </a:pPr>
            <a:r>
              <a:rPr lang="en-US" sz="1800" dirty="0"/>
              <a:t>Research Design: </a:t>
            </a:r>
          </a:p>
          <a:p>
            <a:r>
              <a:rPr lang="en-US" sz="1800" dirty="0"/>
              <a:t>A </a:t>
            </a:r>
            <a:r>
              <a:rPr lang="en-US" sz="1800" i="1" dirty="0"/>
              <a:t>blueprint or framework</a:t>
            </a:r>
            <a:r>
              <a:rPr lang="en-US" sz="1800" dirty="0"/>
              <a:t> for how a study will be conducted.</a:t>
            </a:r>
          </a:p>
          <a:p>
            <a:r>
              <a:rPr lang="en-US" sz="1800" dirty="0"/>
              <a:t>Includes decisions about sampling, data collection methods, and analysis procedure. </a:t>
            </a:r>
          </a:p>
          <a:p>
            <a:r>
              <a:rPr lang="en-US" sz="1800" dirty="0"/>
              <a:t>Ensures the study is systematic, organized, and capable of producing valid results.</a:t>
            </a:r>
          </a:p>
          <a:p>
            <a:pPr marL="0" indent="0">
              <a:buNone/>
            </a:pPr>
            <a:r>
              <a:rPr lang="en-US" sz="1800" dirty="0"/>
              <a:t>Research Statistics: The </a:t>
            </a:r>
            <a:r>
              <a:rPr lang="en-US" sz="1800" i="1" dirty="0"/>
              <a:t>mathematical tools</a:t>
            </a:r>
            <a:r>
              <a:rPr lang="en-US" sz="1800" dirty="0"/>
              <a:t> used to analyze data collected in research.</a:t>
            </a:r>
          </a:p>
          <a:p>
            <a:pPr marL="0" indent="0">
              <a:buNone/>
            </a:pPr>
            <a:r>
              <a:rPr lang="en-US" sz="1800" dirty="0"/>
              <a:t> Helps summarize findings, test hypotheses, and determine whether results are significant.</a:t>
            </a:r>
          </a:p>
          <a:p>
            <a:pPr marL="0" indent="0">
              <a:buNone/>
            </a:pPr>
            <a:r>
              <a:rPr lang="en-US" sz="1800" dirty="0"/>
              <a:t> Includes descriptive statistics (like averages and percentages) and inferential statistics (like regression, correlation, and hypothesis testing)</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616270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AEAD4-51D3-07E3-3113-3CAC55A82061}"/>
              </a:ext>
            </a:extLst>
          </p:cNvPr>
          <p:cNvSpPr>
            <a:spLocks noGrp="1"/>
          </p:cNvSpPr>
          <p:nvPr>
            <p:ph type="title"/>
          </p:nvPr>
        </p:nvSpPr>
        <p:spPr>
          <a:xfrm>
            <a:off x="628650" y="1131094"/>
            <a:ext cx="7886700" cy="673808"/>
          </a:xfrm>
        </p:spPr>
        <p:txBody>
          <a:bodyPr/>
          <a:lstStyle/>
          <a:p>
            <a:r>
              <a:rPr lang="en-US" dirty="0"/>
              <a:t>                       Why They Matter Together  </a:t>
            </a:r>
          </a:p>
        </p:txBody>
      </p:sp>
      <p:sp>
        <p:nvSpPr>
          <p:cNvPr id="3" name="Content Placeholder 2">
            <a:extLst>
              <a:ext uri="{FF2B5EF4-FFF2-40B4-BE49-F238E27FC236}">
                <a16:creationId xmlns:a16="http://schemas.microsoft.com/office/drawing/2014/main" id="{A07A4527-0182-3052-0C11-9600DED8B394}"/>
              </a:ext>
            </a:extLst>
          </p:cNvPr>
          <p:cNvSpPr>
            <a:spLocks noGrp="1"/>
          </p:cNvSpPr>
          <p:nvPr>
            <p:ph idx="1"/>
          </p:nvPr>
        </p:nvSpPr>
        <p:spPr>
          <a:xfrm>
            <a:off x="628650" y="1804902"/>
            <a:ext cx="7886700" cy="3922004"/>
          </a:xfrm>
        </p:spPr>
        <p:txBody>
          <a:bodyPr/>
          <a:lstStyle/>
          <a:p>
            <a:r>
              <a:rPr lang="en-US" dirty="0"/>
              <a:t>Validity and reliability: A strong design ensures results are trustworthy, while statistics confirm whether findings are meaningful.</a:t>
            </a:r>
          </a:p>
          <a:p>
            <a:r>
              <a:rPr lang="en-US" dirty="0"/>
              <a:t>Evidence based practice: In healthcare fields like sonography, combining design and statistics allows practitioners to evaluate new imaging techniques critically.</a:t>
            </a:r>
          </a:p>
          <a:p>
            <a:r>
              <a:rPr lang="en-US" dirty="0"/>
              <a:t>Decision- making: Research design guides </a:t>
            </a:r>
            <a:r>
              <a:rPr lang="en-US" i="1" dirty="0"/>
              <a:t>how</a:t>
            </a:r>
            <a:r>
              <a:rPr lang="en-US" dirty="0"/>
              <a:t> data is collected; statistics guide </a:t>
            </a:r>
            <a:r>
              <a:rPr lang="en-US" i="1" dirty="0"/>
              <a:t>how</a:t>
            </a:r>
            <a:r>
              <a:rPr lang="en-US" dirty="0"/>
              <a:t> data is interpreted.</a:t>
            </a:r>
          </a:p>
          <a:p>
            <a:r>
              <a:rPr lang="en-US" dirty="0"/>
              <a:t>Career advancement: Professionals with these skills can contribute to clinical trials, publish research, and shape future training curricula.</a:t>
            </a:r>
          </a:p>
        </p:txBody>
      </p:sp>
    </p:spTree>
    <p:extLst>
      <p:ext uri="{BB962C8B-B14F-4D97-AF65-F5344CB8AC3E}">
        <p14:creationId xmlns:p14="http://schemas.microsoft.com/office/powerpoint/2010/main" val="3966230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EAD34-A898-CC8D-6DC8-CF847BEB96BF}"/>
              </a:ext>
            </a:extLst>
          </p:cNvPr>
          <p:cNvSpPr>
            <a:spLocks noGrp="1"/>
          </p:cNvSpPr>
          <p:nvPr>
            <p:ph type="title"/>
          </p:nvPr>
        </p:nvSpPr>
        <p:spPr/>
        <p:txBody>
          <a:bodyPr/>
          <a:lstStyle/>
          <a:p>
            <a:pPr algn="ctr"/>
            <a:r>
              <a:rPr lang="en-US" dirty="0"/>
              <a:t>Sonography  example of research statistics and design </a:t>
            </a:r>
          </a:p>
        </p:txBody>
      </p:sp>
      <p:sp>
        <p:nvSpPr>
          <p:cNvPr id="3" name="Content Placeholder 2">
            <a:extLst>
              <a:ext uri="{FF2B5EF4-FFF2-40B4-BE49-F238E27FC236}">
                <a16:creationId xmlns:a16="http://schemas.microsoft.com/office/drawing/2014/main" id="{2DDF9E4E-F01B-F202-0131-8697C231BA6C}"/>
              </a:ext>
            </a:extLst>
          </p:cNvPr>
          <p:cNvSpPr>
            <a:spLocks noGrp="1"/>
          </p:cNvSpPr>
          <p:nvPr>
            <p:ph idx="1"/>
          </p:nvPr>
        </p:nvSpPr>
        <p:spPr/>
        <p:txBody>
          <a:bodyPr/>
          <a:lstStyle/>
          <a:p>
            <a:r>
              <a:rPr lang="en-US" dirty="0"/>
              <a:t>Imagine a sonographer wants to study whether a new ultrasound probe improves image clarity:</a:t>
            </a:r>
          </a:p>
          <a:p>
            <a:r>
              <a:rPr lang="en-US" b="1" dirty="0"/>
              <a:t>Design</a:t>
            </a:r>
            <a:r>
              <a:rPr lang="en-US" dirty="0"/>
              <a:t>: They choose a </a:t>
            </a:r>
            <a:r>
              <a:rPr lang="en-US" i="1" dirty="0"/>
              <a:t>comparative study</a:t>
            </a:r>
            <a:r>
              <a:rPr lang="en-US" dirty="0"/>
              <a:t> with two groups (standard probe vs. new probe).</a:t>
            </a:r>
          </a:p>
          <a:p>
            <a:r>
              <a:rPr lang="en-US" b="1" dirty="0"/>
              <a:t>Statistics</a:t>
            </a:r>
            <a:r>
              <a:rPr lang="en-US" dirty="0"/>
              <a:t>: They use </a:t>
            </a:r>
            <a:r>
              <a:rPr lang="en-US" i="1" dirty="0"/>
              <a:t>t-tests</a:t>
            </a:r>
            <a:r>
              <a:rPr lang="en-US" dirty="0"/>
              <a:t> or </a:t>
            </a:r>
            <a:r>
              <a:rPr lang="en-US" i="1" dirty="0"/>
              <a:t>ANOVA</a:t>
            </a:r>
            <a:r>
              <a:rPr lang="en-US" dirty="0"/>
              <a:t> (analysis of a variance)to compare image quality scores between groups.</a:t>
            </a:r>
          </a:p>
          <a:p>
            <a:r>
              <a:rPr lang="en-US" dirty="0"/>
              <a:t>Together, this ensures the study is structured and the results are statistically valid.</a:t>
            </a:r>
          </a:p>
          <a:p>
            <a:endParaRPr lang="en-US" dirty="0"/>
          </a:p>
        </p:txBody>
      </p:sp>
    </p:spTree>
    <p:extLst>
      <p:ext uri="{BB962C8B-B14F-4D97-AF65-F5344CB8AC3E}">
        <p14:creationId xmlns:p14="http://schemas.microsoft.com/office/powerpoint/2010/main" val="3221547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0E83A-6D38-B142-6BD9-CC41EA1DD895}"/>
              </a:ext>
            </a:extLst>
          </p:cNvPr>
          <p:cNvSpPr>
            <a:spLocks noGrp="1"/>
          </p:cNvSpPr>
          <p:nvPr>
            <p:ph type="title"/>
          </p:nvPr>
        </p:nvSpPr>
        <p:spPr/>
        <p:txBody>
          <a:bodyPr/>
          <a:lstStyle/>
          <a:p>
            <a:r>
              <a:rPr lang="en-US" dirty="0"/>
              <a:t>Why Research, Statistics, and Design Matter</a:t>
            </a:r>
          </a:p>
        </p:txBody>
      </p:sp>
      <p:sp>
        <p:nvSpPr>
          <p:cNvPr id="5" name="Content Placeholder 4">
            <a:extLst>
              <a:ext uri="{FF2B5EF4-FFF2-40B4-BE49-F238E27FC236}">
                <a16:creationId xmlns:a16="http://schemas.microsoft.com/office/drawing/2014/main" id="{6A881E82-B008-60B0-3EA0-1F7494C89914}"/>
              </a:ext>
            </a:extLst>
          </p:cNvPr>
          <p:cNvSpPr>
            <a:spLocks noGrp="1"/>
          </p:cNvSpPr>
          <p:nvPr>
            <p:ph idx="1"/>
          </p:nvPr>
        </p:nvSpPr>
        <p:spPr/>
        <p:txBody>
          <a:bodyPr/>
          <a:lstStyle/>
          <a:p>
            <a:r>
              <a:rPr lang="en-US" b="1" dirty="0"/>
              <a:t>Evidence-based practice</a:t>
            </a:r>
            <a:r>
              <a:rPr lang="en-US" dirty="0"/>
              <a:t>: Statistical literacy ensures sonographers can critically evaluate new imaging techniques.</a:t>
            </a:r>
            <a:r>
              <a:rPr lang="en-US" b="1" dirty="0"/>
              <a:t> Career advancement</a:t>
            </a:r>
            <a:r>
              <a:rPr lang="en-US" dirty="0"/>
              <a:t>: Research skills open opportunities in academia, clinical trials, and leadership roles.</a:t>
            </a:r>
          </a:p>
          <a:p>
            <a:r>
              <a:rPr lang="en-US" b="1" dirty="0"/>
              <a:t>Curriculum innovation</a:t>
            </a:r>
            <a:r>
              <a:rPr lang="en-US" dirty="0"/>
              <a:t>: Design-focused training helps shape future sonography education pathways.</a:t>
            </a:r>
          </a:p>
          <a:p>
            <a:r>
              <a:rPr lang="en-US" b="1" dirty="0"/>
              <a:t>Global collaboration</a:t>
            </a:r>
            <a:r>
              <a:rPr lang="en-US" dirty="0"/>
              <a:t>: Research competencies connect sonographers to international networks and publications.</a:t>
            </a:r>
          </a:p>
          <a:p>
            <a:endParaRPr lang="en-US" dirty="0"/>
          </a:p>
        </p:txBody>
      </p:sp>
    </p:spTree>
    <p:extLst>
      <p:ext uri="{BB962C8B-B14F-4D97-AF65-F5344CB8AC3E}">
        <p14:creationId xmlns:p14="http://schemas.microsoft.com/office/powerpoint/2010/main" val="2734536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C1E8F-3514-B1B0-F96C-3FE0970C6D6C}"/>
              </a:ext>
            </a:extLst>
          </p:cNvPr>
          <p:cNvSpPr>
            <a:spLocks noGrp="1"/>
          </p:cNvSpPr>
          <p:nvPr>
            <p:ph type="title"/>
          </p:nvPr>
        </p:nvSpPr>
        <p:spPr/>
        <p:txBody>
          <a:bodyPr/>
          <a:lstStyle/>
          <a:p>
            <a:pPr algn="ctr"/>
            <a:r>
              <a:rPr lang="en-US" b="1" dirty="0"/>
              <a:t>Core Resources for Sonographic Research &amp; Design</a:t>
            </a:r>
            <a:endParaRPr lang="en-US" dirty="0"/>
          </a:p>
        </p:txBody>
      </p:sp>
      <p:sp>
        <p:nvSpPr>
          <p:cNvPr id="3" name="Content Placeholder 2">
            <a:extLst>
              <a:ext uri="{FF2B5EF4-FFF2-40B4-BE49-F238E27FC236}">
                <a16:creationId xmlns:a16="http://schemas.microsoft.com/office/drawing/2014/main" id="{56952291-C4BB-5E18-1F8C-26ED1ACFEFE8}"/>
              </a:ext>
            </a:extLst>
          </p:cNvPr>
          <p:cNvSpPr>
            <a:spLocks noGrp="1"/>
          </p:cNvSpPr>
          <p:nvPr>
            <p:ph idx="1"/>
          </p:nvPr>
        </p:nvSpPr>
        <p:spPr>
          <a:xfrm>
            <a:off x="628650" y="1979468"/>
            <a:ext cx="7886700" cy="3747438"/>
          </a:xfrm>
        </p:spPr>
        <p:txBody>
          <a:bodyPr>
            <a:normAutofit/>
          </a:bodyPr>
          <a:lstStyle/>
          <a:p>
            <a:endParaRPr lang="en-US" sz="1800" dirty="0"/>
          </a:p>
          <a:p>
            <a:r>
              <a:rPr lang="en-US" sz="1800" dirty="0"/>
              <a:t>Clinical Research Roles: Sonographers can expand into research positions, requiring knowledge of study design, data collection, and statistical analysis.</a:t>
            </a:r>
          </a:p>
          <a:p>
            <a:r>
              <a:rPr lang="en-US" sz="1800" dirty="0"/>
              <a:t>Curriculum Design Pathways: Discussion papers highlight sustainable training models and the importance of </a:t>
            </a:r>
            <a:r>
              <a:rPr lang="en-US" sz="1800" i="1" dirty="0"/>
              <a:t>work-integrated learning</a:t>
            </a:r>
            <a:r>
              <a:rPr lang="en-US" sz="1800" dirty="0"/>
              <a:t> for research-focused sonographers</a:t>
            </a:r>
          </a:p>
          <a:p>
            <a:r>
              <a:rPr lang="en-US" sz="1800" dirty="0"/>
              <a:t>Continuing Education in Sonography: Continuing educational courses and advanced certifications strengthen skills in methodology, imaging design, and evidence-based practice.</a:t>
            </a:r>
          </a:p>
          <a:p>
            <a:r>
              <a:rPr lang="en-US" sz="1800" dirty="0"/>
              <a:t>Comparative imaging education: Literature reviews show how sonographers differ from other healthcare professionals in imaging objectives, underscoring the need for specialized statistical and design training.</a:t>
            </a:r>
          </a:p>
        </p:txBody>
      </p:sp>
    </p:spTree>
    <p:extLst>
      <p:ext uri="{BB962C8B-B14F-4D97-AF65-F5344CB8AC3E}">
        <p14:creationId xmlns:p14="http://schemas.microsoft.com/office/powerpoint/2010/main" val="4191579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6D9EF-4AE3-5443-F975-27F54C3B0144}"/>
              </a:ext>
            </a:extLst>
          </p:cNvPr>
          <p:cNvSpPr>
            <a:spLocks noGrp="1"/>
          </p:cNvSpPr>
          <p:nvPr>
            <p:ph type="title"/>
          </p:nvPr>
        </p:nvSpPr>
        <p:spPr>
          <a:xfrm>
            <a:off x="628650" y="1131094"/>
            <a:ext cx="7886700" cy="848375"/>
          </a:xfrm>
        </p:spPr>
        <p:txBody>
          <a:bodyPr/>
          <a:lstStyle/>
          <a:p>
            <a:r>
              <a:rPr lang="en-US" dirty="0"/>
              <a:t>                 Practical Development Steps</a:t>
            </a:r>
          </a:p>
        </p:txBody>
      </p:sp>
      <p:sp>
        <p:nvSpPr>
          <p:cNvPr id="3" name="Content Placeholder 2">
            <a:extLst>
              <a:ext uri="{FF2B5EF4-FFF2-40B4-BE49-F238E27FC236}">
                <a16:creationId xmlns:a16="http://schemas.microsoft.com/office/drawing/2014/main" id="{7E1DE813-7FB1-7C22-32E9-EDA214B5442F}"/>
              </a:ext>
            </a:extLst>
          </p:cNvPr>
          <p:cNvSpPr>
            <a:spLocks noGrp="1"/>
          </p:cNvSpPr>
          <p:nvPr>
            <p:ph idx="1"/>
          </p:nvPr>
        </p:nvSpPr>
        <p:spPr>
          <a:xfrm>
            <a:off x="628650" y="1979470"/>
            <a:ext cx="7886700" cy="3510503"/>
          </a:xfrm>
        </p:spPr>
        <p:txBody>
          <a:bodyPr>
            <a:normAutofit/>
          </a:bodyPr>
          <a:lstStyle/>
          <a:p>
            <a:r>
              <a:rPr lang="en-US" dirty="0"/>
              <a:t>Enroll in </a:t>
            </a:r>
            <a:r>
              <a:rPr lang="en-US" b="1" dirty="0"/>
              <a:t>structured CME programs</a:t>
            </a:r>
            <a:r>
              <a:rPr lang="en-US" dirty="0"/>
              <a:t> (AIUM, SDMS) with modules on research design</a:t>
            </a:r>
          </a:p>
          <a:p>
            <a:r>
              <a:rPr lang="en-US" dirty="0"/>
              <a:t>Participate in </a:t>
            </a:r>
            <a:r>
              <a:rPr lang="en-US" b="1" dirty="0"/>
              <a:t>curriculum design discussions</a:t>
            </a:r>
            <a:r>
              <a:rPr lang="en-US" dirty="0"/>
              <a:t> to influence training pathways</a:t>
            </a:r>
          </a:p>
          <a:p>
            <a:r>
              <a:rPr lang="en-US" dirty="0"/>
              <a:t>Read </a:t>
            </a:r>
            <a:r>
              <a:rPr lang="en-US" b="1" dirty="0"/>
              <a:t>peer-reviewed journals</a:t>
            </a:r>
            <a:r>
              <a:rPr lang="en-US" dirty="0"/>
              <a:t> (Journal of Diagnostic Medical Sonography, JASE) for applied statistical examples.</a:t>
            </a:r>
          </a:p>
          <a:p>
            <a:r>
              <a:rPr lang="en-US" dirty="0"/>
              <a:t>Pursue </a:t>
            </a:r>
            <a:r>
              <a:rPr lang="en-US" b="1" dirty="0"/>
              <a:t>advanced certifications</a:t>
            </a:r>
            <a:r>
              <a:rPr lang="en-US" dirty="0"/>
              <a:t> in specialized imaging areas to integrate research into practice</a:t>
            </a:r>
          </a:p>
          <a:p>
            <a:r>
              <a:rPr lang="en-US" dirty="0"/>
              <a:t>Join </a:t>
            </a:r>
            <a:r>
              <a:rPr lang="en-US" b="1" dirty="0"/>
              <a:t>professional organizations</a:t>
            </a:r>
            <a:r>
              <a:rPr lang="en-US" dirty="0"/>
              <a:t> to access mentorship and collaborative research projects.</a:t>
            </a:r>
          </a:p>
        </p:txBody>
      </p:sp>
    </p:spTree>
    <p:extLst>
      <p:ext uri="{BB962C8B-B14F-4D97-AF65-F5344CB8AC3E}">
        <p14:creationId xmlns:p14="http://schemas.microsoft.com/office/powerpoint/2010/main" val="29443186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29285"/>
          </a:xfrm>
        </p:spPr>
        <p:txBody>
          <a:bodyPr>
            <a:normAutofit fontScale="90000"/>
          </a:bodyPr>
          <a:lstStyle/>
          <a:p>
            <a:r>
              <a:rPr lang="en-US" sz="2800" b="1" dirty="0">
                <a:solidFill>
                  <a:srgbClr val="FF0000"/>
                </a:solidFill>
              </a:rPr>
              <a:t>STANDARD – PATIENT INFORMATION ASSESSMENT AND EVALUATION</a:t>
            </a:r>
            <a:r>
              <a:rPr lang="en-US" dirty="0">
                <a:solidFill>
                  <a:srgbClr val="FF0000"/>
                </a:solidFill>
              </a:rPr>
              <a:t>:</a:t>
            </a:r>
          </a:p>
        </p:txBody>
      </p:sp>
      <p:sp>
        <p:nvSpPr>
          <p:cNvPr id="3" name="Content Placeholder 2"/>
          <p:cNvSpPr>
            <a:spLocks noGrp="1"/>
          </p:cNvSpPr>
          <p:nvPr>
            <p:ph idx="1"/>
          </p:nvPr>
        </p:nvSpPr>
        <p:spPr>
          <a:xfrm>
            <a:off x="584118" y="1295400"/>
            <a:ext cx="7886700" cy="5247904"/>
          </a:xfrm>
        </p:spPr>
        <p:txBody>
          <a:bodyPr>
            <a:noAutofit/>
          </a:bodyPr>
          <a:lstStyle/>
          <a:p>
            <a:pPr>
              <a:buNone/>
            </a:pPr>
            <a:r>
              <a:rPr lang="en-US" sz="2800" dirty="0"/>
              <a:t> 1. Information regarding the patient's past and present health status is essential in providing appropriate diagnostic information.  </a:t>
            </a:r>
          </a:p>
          <a:p>
            <a:pPr>
              <a:buNone/>
            </a:pPr>
            <a:r>
              <a:rPr lang="en-US" sz="2800" dirty="0">
                <a:solidFill>
                  <a:srgbClr val="FF0000"/>
                </a:solidFill>
              </a:rPr>
              <a:t>     </a:t>
            </a:r>
            <a:r>
              <a:rPr lang="en-US" sz="2800" dirty="0"/>
              <a:t>The diagnostic medical </a:t>
            </a:r>
            <a:r>
              <a:rPr lang="en-US" sz="2800" dirty="0" err="1"/>
              <a:t>sonographer</a:t>
            </a:r>
            <a:r>
              <a:rPr lang="en-US" sz="2800" dirty="0">
                <a:solidFill>
                  <a:srgbClr val="FF0000"/>
                </a:solidFill>
              </a:rPr>
              <a:t>:</a:t>
            </a:r>
          </a:p>
          <a:p>
            <a:pPr>
              <a:buNone/>
            </a:pPr>
            <a:r>
              <a:rPr lang="en-US" sz="2800" dirty="0"/>
              <a:t> 2. Verifies patient identification and that the requested examination correlates with the patient’s clinical history and presentation. In the event that the requested examination does not correlate, either the supervising physician or referring physician will be notified</a:t>
            </a:r>
          </a:p>
          <a:p>
            <a:pPr>
              <a:buNone/>
            </a:pPr>
            <a:r>
              <a:rPr lang="en-US" sz="2800" dirty="0"/>
              <a:t>  </a:t>
            </a:r>
          </a:p>
        </p:txBody>
      </p:sp>
    </p:spTree>
    <p:extLst>
      <p:ext uri="{BB962C8B-B14F-4D97-AF65-F5344CB8AC3E}">
        <p14:creationId xmlns:p14="http://schemas.microsoft.com/office/powerpoint/2010/main" val="291120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STANDARD – PATIENT INFORMATION ASSESSMENT AND EVALUATION</a:t>
            </a:r>
            <a:r>
              <a:rPr lang="en-US" dirty="0">
                <a:solidFill>
                  <a:srgbClr val="FF0000"/>
                </a:solidFill>
              </a:rPr>
              <a:t>:</a:t>
            </a:r>
            <a:endParaRPr lang="en-US" dirty="0"/>
          </a:p>
        </p:txBody>
      </p:sp>
      <p:sp>
        <p:nvSpPr>
          <p:cNvPr id="3" name="Content Placeholder 2"/>
          <p:cNvSpPr>
            <a:spLocks noGrp="1"/>
          </p:cNvSpPr>
          <p:nvPr>
            <p:ph idx="1"/>
          </p:nvPr>
        </p:nvSpPr>
        <p:spPr>
          <a:xfrm>
            <a:off x="457200" y="1600200"/>
            <a:ext cx="8229600" cy="4800600"/>
          </a:xfrm>
        </p:spPr>
        <p:txBody>
          <a:bodyPr>
            <a:normAutofit lnSpcReduction="10000"/>
          </a:bodyPr>
          <a:lstStyle/>
          <a:p>
            <a:pPr>
              <a:buNone/>
            </a:pPr>
            <a:r>
              <a:rPr lang="en-US" dirty="0"/>
              <a:t> 3.In compliance with privacy and confidentiality standards, interviews the patient or their representative, and/or reviews the medical record to gather relevant information regarding the patient's medical history and current presenting indications for the study. </a:t>
            </a:r>
          </a:p>
          <a:p>
            <a:pPr>
              <a:buNone/>
            </a:pPr>
            <a:r>
              <a:rPr lang="en-US" dirty="0"/>
              <a:t> 4.  Evaluates any contraindications, insufficient patient preparation, and the patient's inability or unwillingness to tolerate the examination and associated procedures.</a:t>
            </a:r>
          </a:p>
        </p:txBody>
      </p:sp>
    </p:spTree>
    <p:extLst>
      <p:ext uri="{BB962C8B-B14F-4D97-AF65-F5344CB8AC3E}">
        <p14:creationId xmlns:p14="http://schemas.microsoft.com/office/powerpoint/2010/main" val="756735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524000"/>
          </a:xfrm>
        </p:spPr>
        <p:txBody>
          <a:bodyPr>
            <a:noAutofit/>
          </a:bodyPr>
          <a:lstStyle/>
          <a:p>
            <a:r>
              <a:rPr lang="en-US" sz="3200" b="1" dirty="0"/>
              <a:t>    </a:t>
            </a:r>
            <a:r>
              <a:rPr lang="en-US" sz="3200" b="1" dirty="0">
                <a:solidFill>
                  <a:srgbClr val="FF0000"/>
                </a:solidFill>
              </a:rPr>
              <a:t>SDMS Scope of Practice and Clinical Standards </a:t>
            </a:r>
            <a:br>
              <a:rPr lang="en-US" sz="3200" b="1" dirty="0">
                <a:solidFill>
                  <a:srgbClr val="FF0000"/>
                </a:solidFill>
              </a:rPr>
            </a:br>
            <a:r>
              <a:rPr lang="en-US" sz="3200" b="1" dirty="0">
                <a:solidFill>
                  <a:srgbClr val="FF0000"/>
                </a:solidFill>
              </a:rPr>
              <a:t>         for the Diagnostic Medical Sonographer </a:t>
            </a:r>
          </a:p>
        </p:txBody>
      </p:sp>
      <p:sp>
        <p:nvSpPr>
          <p:cNvPr id="3" name="Content Placeholder 2"/>
          <p:cNvSpPr>
            <a:spLocks noGrp="1"/>
          </p:cNvSpPr>
          <p:nvPr>
            <p:ph idx="1"/>
          </p:nvPr>
        </p:nvSpPr>
        <p:spPr>
          <a:xfrm>
            <a:off x="457200" y="2027237"/>
            <a:ext cx="8229600" cy="4525963"/>
          </a:xfrm>
        </p:spPr>
        <p:txBody>
          <a:bodyPr/>
          <a:lstStyle/>
          <a:p>
            <a:pPr algn="ctr">
              <a:buNone/>
            </a:pPr>
            <a:r>
              <a:rPr lang="en-US" b="1" dirty="0">
                <a:solidFill>
                  <a:srgbClr val="FF0000"/>
                </a:solidFill>
              </a:rPr>
              <a:t>LIMITATION AND SCOPE </a:t>
            </a:r>
          </a:p>
          <a:p>
            <a:pPr>
              <a:buNone/>
            </a:pPr>
            <a:r>
              <a:rPr lang="en-US" dirty="0"/>
              <a:t>   </a:t>
            </a:r>
            <a:r>
              <a:rPr lang="en-US" sz="2800" dirty="0"/>
              <a:t>Federal and state laws, accreditation standards, and lawful facility policies and procedures supersede these standards.</a:t>
            </a:r>
          </a:p>
          <a:p>
            <a:pPr>
              <a:buNone/>
            </a:pPr>
            <a:r>
              <a:rPr lang="en-US" sz="2800" dirty="0"/>
              <a:t>    A diagnostic medical sonographer, within the boundaries of all applicable legal requirements and restrictions, exercises individual thought, judgment, and discretion in the performance of an examination taking into account the facts of the individual case.</a:t>
            </a:r>
          </a:p>
        </p:txBody>
      </p:sp>
    </p:spTree>
    <p:extLst>
      <p:ext uri="{BB962C8B-B14F-4D97-AF65-F5344CB8AC3E}">
        <p14:creationId xmlns:p14="http://schemas.microsoft.com/office/powerpoint/2010/main" val="37927044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rgbClr val="FF0000"/>
                </a:solidFill>
              </a:rPr>
              <a:t>STANDARD - QUALITY OF CARE:</a:t>
            </a:r>
          </a:p>
        </p:txBody>
      </p:sp>
      <p:sp>
        <p:nvSpPr>
          <p:cNvPr id="3" name="Content Placeholder 2"/>
          <p:cNvSpPr>
            <a:spLocks noGrp="1"/>
          </p:cNvSpPr>
          <p:nvPr>
            <p:ph idx="1"/>
          </p:nvPr>
        </p:nvSpPr>
        <p:spPr/>
        <p:txBody>
          <a:bodyPr/>
          <a:lstStyle/>
          <a:p>
            <a:endParaRPr lang="en-US" dirty="0"/>
          </a:p>
          <a:p>
            <a:pPr>
              <a:buNone/>
            </a:pPr>
            <a:r>
              <a:rPr lang="en-US" sz="2400" dirty="0"/>
              <a:t> All patients expect and deserve optimal care. The diagnostic medical sonographer:</a:t>
            </a:r>
          </a:p>
          <a:p>
            <a:pPr>
              <a:buNone/>
            </a:pPr>
            <a:r>
              <a:rPr lang="en-US" sz="2400" dirty="0"/>
              <a:t>1. Works in partnership with other healthcare professionals.</a:t>
            </a:r>
          </a:p>
          <a:p>
            <a:pPr>
              <a:buNone/>
            </a:pPr>
            <a:r>
              <a:rPr lang="en-US" sz="2400" dirty="0"/>
              <a:t>2. Reports adverse events.</a:t>
            </a:r>
          </a:p>
        </p:txBody>
      </p:sp>
    </p:spTree>
    <p:extLst>
      <p:ext uri="{BB962C8B-B14F-4D97-AF65-F5344CB8AC3E}">
        <p14:creationId xmlns:p14="http://schemas.microsoft.com/office/powerpoint/2010/main" val="22815743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953035"/>
          </a:xfrm>
        </p:spPr>
        <p:txBody>
          <a:bodyPr>
            <a:normAutofit/>
          </a:bodyPr>
          <a:lstStyle/>
          <a:p>
            <a:pPr algn="ctr"/>
            <a:r>
              <a:rPr lang="en-US" sz="2800" b="1" dirty="0">
                <a:solidFill>
                  <a:srgbClr val="FF0000"/>
                </a:solidFill>
              </a:rPr>
              <a:t>STANDARD – ANALYSIS AND DETERMINATION OF PROTOCOL FOR THE DIAGNOSTIC EXAMINATION</a:t>
            </a:r>
          </a:p>
        </p:txBody>
      </p:sp>
      <p:sp>
        <p:nvSpPr>
          <p:cNvPr id="3" name="Content Placeholder 2"/>
          <p:cNvSpPr>
            <a:spLocks noGrp="1"/>
          </p:cNvSpPr>
          <p:nvPr>
            <p:ph idx="1"/>
          </p:nvPr>
        </p:nvSpPr>
        <p:spPr>
          <a:xfrm>
            <a:off x="628650" y="1330037"/>
            <a:ext cx="7886700" cy="5223163"/>
          </a:xfrm>
        </p:spPr>
        <p:txBody>
          <a:bodyPr>
            <a:normAutofit/>
          </a:bodyPr>
          <a:lstStyle/>
          <a:p>
            <a:pPr>
              <a:buNone/>
            </a:pPr>
            <a:r>
              <a:rPr lang="en-US" sz="2400" dirty="0"/>
              <a:t>   The most appropriate protocol seeks to optimize patient safety and comfort, diagnostic quality, and efficient use of resources, while achieving the diagnostic objective of the examination. The diagnostic medical </a:t>
            </a:r>
            <a:r>
              <a:rPr lang="en-US" sz="2400" dirty="0" err="1"/>
              <a:t>sonographer</a:t>
            </a:r>
            <a:r>
              <a:rPr lang="en-US" sz="2400" dirty="0"/>
              <a:t>:</a:t>
            </a:r>
          </a:p>
          <a:p>
            <a:pPr>
              <a:buNone/>
            </a:pPr>
            <a:r>
              <a:rPr lang="en-US" sz="2400" dirty="0"/>
              <a:t>1. Integrates medical history, previous studies, and current symptoms in determining the appropriate diagnostic protocol and tailoring the examination to the needs of the patient.</a:t>
            </a:r>
          </a:p>
          <a:p>
            <a:pPr marL="457200" indent="-457200">
              <a:buNone/>
            </a:pPr>
            <a:r>
              <a:rPr lang="en-US" sz="2400" dirty="0"/>
              <a:t>2. Performs the examination under appropriate supervision, as defined by the procedure. </a:t>
            </a:r>
          </a:p>
          <a:p>
            <a:pPr marL="457200" indent="-457200">
              <a:buNone/>
            </a:pPr>
            <a:r>
              <a:rPr lang="en-US" sz="2400" dirty="0"/>
              <a:t>3. Uses professional judgment to adapt the protocol and consults appropriate medical personnel, when necessary, to optimize examination results.</a:t>
            </a:r>
          </a:p>
        </p:txBody>
      </p:sp>
    </p:spTree>
    <p:extLst>
      <p:ext uri="{BB962C8B-B14F-4D97-AF65-F5344CB8AC3E}">
        <p14:creationId xmlns:p14="http://schemas.microsoft.com/office/powerpoint/2010/main" val="1632186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FF0000"/>
                </a:solidFill>
              </a:rPr>
              <a:t>STANDARD – ANALYSIS AND DETERMINATIO OF PROTOCOL FOR THE DIAGNOSTIC EXAMINATION</a:t>
            </a:r>
            <a:endParaRPr lang="en-US" sz="2800" dirty="0"/>
          </a:p>
        </p:txBody>
      </p:sp>
      <p:sp>
        <p:nvSpPr>
          <p:cNvPr id="3" name="Content Placeholder 2"/>
          <p:cNvSpPr>
            <a:spLocks noGrp="1"/>
          </p:cNvSpPr>
          <p:nvPr>
            <p:ph idx="1"/>
          </p:nvPr>
        </p:nvSpPr>
        <p:spPr>
          <a:xfrm>
            <a:off x="457200" y="1371601"/>
            <a:ext cx="8229600" cy="4876800"/>
          </a:xfrm>
        </p:spPr>
        <p:txBody>
          <a:bodyPr>
            <a:normAutofit/>
          </a:bodyPr>
          <a:lstStyle/>
          <a:p>
            <a:pPr>
              <a:buNone/>
            </a:pPr>
            <a:r>
              <a:rPr lang="en-US" dirty="0"/>
              <a:t>4. </a:t>
            </a:r>
            <a:r>
              <a:rPr lang="en-US" sz="2800" dirty="0"/>
              <a:t>Confers with the supervising physician, when appropriate , to determine if intravenous contrast is necessary to enhance image quality and obtain additional diagnostic information.</a:t>
            </a:r>
          </a:p>
          <a:p>
            <a:pPr>
              <a:buNone/>
            </a:pPr>
            <a:r>
              <a:rPr lang="en-US" sz="2800" dirty="0"/>
              <a:t>5. With appropriate education and training, uses proper technique for intravenous line insertion and administers intravenous contrast according to facility protocol.</a:t>
            </a:r>
          </a:p>
        </p:txBody>
      </p:sp>
    </p:spTree>
    <p:extLst>
      <p:ext uri="{BB962C8B-B14F-4D97-AF65-F5344CB8AC3E}">
        <p14:creationId xmlns:p14="http://schemas.microsoft.com/office/powerpoint/2010/main" val="25055945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34283"/>
          </a:xfrm>
        </p:spPr>
        <p:txBody>
          <a:bodyPr>
            <a:normAutofit/>
          </a:bodyPr>
          <a:lstStyle/>
          <a:p>
            <a:pPr algn="ctr"/>
            <a:r>
              <a:rPr lang="en-US" sz="2800" b="1" dirty="0">
                <a:solidFill>
                  <a:srgbClr val="FF0000"/>
                </a:solidFill>
              </a:rPr>
              <a:t>STANDARD – IMPLEMENTATION OF THE PROTOCOL:</a:t>
            </a:r>
          </a:p>
        </p:txBody>
      </p:sp>
      <p:sp>
        <p:nvSpPr>
          <p:cNvPr id="3" name="Content Placeholder 2"/>
          <p:cNvSpPr>
            <a:spLocks noGrp="1"/>
          </p:cNvSpPr>
          <p:nvPr>
            <p:ph idx="1"/>
          </p:nvPr>
        </p:nvSpPr>
        <p:spPr>
          <a:xfrm>
            <a:off x="628650" y="1235035"/>
            <a:ext cx="7886700" cy="4941929"/>
          </a:xfrm>
        </p:spPr>
        <p:txBody>
          <a:bodyPr>
            <a:normAutofit/>
          </a:bodyPr>
          <a:lstStyle/>
          <a:p>
            <a:pPr>
              <a:buNone/>
            </a:pPr>
            <a:r>
              <a:rPr lang="en-US" sz="2800" dirty="0"/>
              <a:t>Quality patient care is provided through the safe and accurate implementation of a deliberate protocol. The diagnostic medical sonographer: </a:t>
            </a:r>
          </a:p>
          <a:p>
            <a:pPr>
              <a:buNone/>
            </a:pPr>
            <a:r>
              <a:rPr lang="en-US" sz="2800" dirty="0"/>
              <a:t>1. Implements a protocol that falls within established procedures.</a:t>
            </a:r>
          </a:p>
          <a:p>
            <a:pPr>
              <a:buNone/>
            </a:pPr>
            <a:r>
              <a:rPr lang="en-US" sz="2800" dirty="0"/>
              <a:t>2. Elicits the cooperation of the patient to carry out the protocol.</a:t>
            </a:r>
          </a:p>
          <a:p>
            <a:pPr>
              <a:buNone/>
            </a:pPr>
            <a:r>
              <a:rPr lang="en-US" sz="2800" dirty="0"/>
              <a:t>3. Adapts the protocol according to the patient's disease process or condition. </a:t>
            </a:r>
          </a:p>
        </p:txBody>
      </p:sp>
    </p:spTree>
    <p:extLst>
      <p:ext uri="{BB962C8B-B14F-4D97-AF65-F5344CB8AC3E}">
        <p14:creationId xmlns:p14="http://schemas.microsoft.com/office/powerpoint/2010/main" val="4144733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FF0000"/>
                </a:solidFill>
              </a:rPr>
              <a:t>STANDARD – IMPLEMENTATION OF THE PROTOCOL</a:t>
            </a:r>
            <a:r>
              <a:rPr lang="en-US" sz="3200" b="1" dirty="0">
                <a:solidFill>
                  <a:srgbClr val="FF0000"/>
                </a:solidFill>
              </a:rPr>
              <a:t>:</a:t>
            </a:r>
            <a:endParaRPr lang="en-US" sz="3200" dirty="0"/>
          </a:p>
        </p:txBody>
      </p:sp>
      <p:sp>
        <p:nvSpPr>
          <p:cNvPr id="3" name="Content Placeholder 2"/>
          <p:cNvSpPr>
            <a:spLocks noGrp="1"/>
          </p:cNvSpPr>
          <p:nvPr>
            <p:ph idx="1"/>
          </p:nvPr>
        </p:nvSpPr>
        <p:spPr>
          <a:xfrm>
            <a:off x="457200" y="1295400"/>
            <a:ext cx="8229600" cy="4830763"/>
          </a:xfrm>
        </p:spPr>
        <p:txBody>
          <a:bodyPr>
            <a:normAutofit/>
          </a:bodyPr>
          <a:lstStyle/>
          <a:p>
            <a:pPr>
              <a:buNone/>
            </a:pPr>
            <a:r>
              <a:rPr lang="en-US" sz="2800" dirty="0"/>
              <a:t>4. Adapts the protocol, as required, according to the physical circumstances under which the examination must be performed (operating room, sonography department, patient’s bedside, emergency department</a:t>
            </a:r>
          </a:p>
          <a:p>
            <a:pPr>
              <a:buNone/>
            </a:pPr>
            <a:r>
              <a:rPr lang="en-US" sz="2800" dirty="0"/>
              <a:t>5. Monitors the patient's physical and mental status. </a:t>
            </a:r>
          </a:p>
          <a:p>
            <a:pPr>
              <a:buNone/>
            </a:pPr>
            <a:r>
              <a:rPr lang="en-US" sz="2800" dirty="0"/>
              <a:t>6. Adapts the protocol according to changes in the patient's clinical status during the examination. </a:t>
            </a:r>
          </a:p>
          <a:p>
            <a:pPr>
              <a:buNone/>
            </a:pPr>
            <a:r>
              <a:rPr lang="en-US" sz="2800" dirty="0"/>
              <a:t>7. Administers first aid or provides life support in emergency situations.</a:t>
            </a:r>
          </a:p>
          <a:p>
            <a:endParaRPr lang="en-US" sz="2800" dirty="0"/>
          </a:p>
        </p:txBody>
      </p:sp>
    </p:spTree>
    <p:extLst>
      <p:ext uri="{BB962C8B-B14F-4D97-AF65-F5344CB8AC3E}">
        <p14:creationId xmlns:p14="http://schemas.microsoft.com/office/powerpoint/2010/main" val="4899796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rgbClr val="FF0000"/>
                </a:solidFill>
              </a:rPr>
              <a:t>STANDARD – IMPLEMENTATION OF THE PROTOCOL: Continued</a:t>
            </a:r>
            <a:endParaRPr lang="en-US" sz="2800" dirty="0">
              <a:solidFill>
                <a:srgbClr val="FF0000"/>
              </a:solidFill>
            </a:endParaRPr>
          </a:p>
        </p:txBody>
      </p:sp>
      <p:sp>
        <p:nvSpPr>
          <p:cNvPr id="3" name="Content Placeholder 2"/>
          <p:cNvSpPr>
            <a:spLocks noGrp="1"/>
          </p:cNvSpPr>
          <p:nvPr>
            <p:ph idx="1"/>
          </p:nvPr>
        </p:nvSpPr>
        <p:spPr>
          <a:xfrm>
            <a:off x="457200" y="1295400"/>
            <a:ext cx="8229600" cy="4830763"/>
          </a:xfrm>
        </p:spPr>
        <p:txBody>
          <a:bodyPr>
            <a:normAutofit fontScale="92500" lnSpcReduction="20000"/>
          </a:bodyPr>
          <a:lstStyle/>
          <a:p>
            <a:pPr marL="0" indent="0">
              <a:buNone/>
            </a:pPr>
            <a:r>
              <a:rPr lang="en-US" sz="2800" dirty="0"/>
              <a:t>8.  Performs basic patient care tasks, as needed.</a:t>
            </a:r>
          </a:p>
          <a:p>
            <a:pPr>
              <a:buNone/>
            </a:pPr>
            <a:r>
              <a:rPr lang="en-US" sz="2800" dirty="0"/>
              <a:t>9.  Recognizes sonographic characteristics of normal and abnormal tissues, structures, and blood flow; adapts protocol as appropriate to further assess findings; adjusts scanning technique to optimize image quality and diagnostic information. </a:t>
            </a:r>
          </a:p>
          <a:p>
            <a:pPr>
              <a:buNone/>
            </a:pPr>
            <a:r>
              <a:rPr lang="en-US" sz="2800" dirty="0"/>
              <a:t>10.Analyzes sonographic findings throughout the course of the examination so that a comprehensive examination is completed and sufficient data is provided to the supervising physician to direct patient management and render a final interpretation. </a:t>
            </a:r>
          </a:p>
          <a:p>
            <a:pPr>
              <a:buNone/>
            </a:pPr>
            <a:r>
              <a:rPr lang="en-US" sz="2800" dirty="0"/>
              <a:t>11. Performs measurements and calculations according to facility protocol.</a:t>
            </a:r>
          </a:p>
        </p:txBody>
      </p:sp>
    </p:spTree>
    <p:extLst>
      <p:ext uri="{BB962C8B-B14F-4D97-AF65-F5344CB8AC3E}">
        <p14:creationId xmlns:p14="http://schemas.microsoft.com/office/powerpoint/2010/main" val="39284539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FF0000"/>
                </a:solidFill>
              </a:rPr>
              <a:t>STANDARD – EVALUATION OF THE DIAGNOSTIC EXAMINATION RESULTS:</a:t>
            </a:r>
          </a:p>
        </p:txBody>
      </p:sp>
      <p:sp>
        <p:nvSpPr>
          <p:cNvPr id="3" name="Content Placeholder 2"/>
          <p:cNvSpPr>
            <a:spLocks noGrp="1"/>
          </p:cNvSpPr>
          <p:nvPr>
            <p:ph idx="1"/>
          </p:nvPr>
        </p:nvSpPr>
        <p:spPr>
          <a:xfrm>
            <a:off x="628650" y="1484417"/>
            <a:ext cx="7886700" cy="4692547"/>
          </a:xfrm>
        </p:spPr>
        <p:txBody>
          <a:bodyPr>
            <a:normAutofit/>
          </a:bodyPr>
          <a:lstStyle/>
          <a:p>
            <a:pPr marL="0" indent="0">
              <a:buNone/>
            </a:pPr>
            <a:r>
              <a:rPr lang="en-US" sz="2400" dirty="0"/>
              <a:t>Careful evaluation of examination results in the context of the protocol is important to determine whether the goals have been met. The diagnostic medical sonographer: </a:t>
            </a:r>
          </a:p>
          <a:p>
            <a:pPr>
              <a:buNone/>
            </a:pPr>
            <a:r>
              <a:rPr lang="en-US" sz="2400" dirty="0"/>
              <a:t>1. Establishes that the examination, as performed, according to protocols and guidelines. </a:t>
            </a:r>
          </a:p>
          <a:p>
            <a:pPr>
              <a:buNone/>
            </a:pPr>
            <a:r>
              <a:rPr lang="en-US" sz="2400" dirty="0"/>
              <a:t>2. Identifies and documents any limitations to the examination.  </a:t>
            </a:r>
          </a:p>
          <a:p>
            <a:pPr>
              <a:buNone/>
            </a:pPr>
            <a:r>
              <a:rPr lang="en-US" sz="2400" dirty="0"/>
              <a:t>3.  Notifies supervising physician when immediate medical attention is necessary, based on examination findings and patient condition.</a:t>
            </a:r>
          </a:p>
        </p:txBody>
      </p:sp>
    </p:spTree>
    <p:extLst>
      <p:ext uri="{BB962C8B-B14F-4D97-AF65-F5344CB8AC3E}">
        <p14:creationId xmlns:p14="http://schemas.microsoft.com/office/powerpoint/2010/main" val="27039657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rgbClr val="FF0000"/>
                </a:solidFill>
              </a:rPr>
              <a:t>STANDARD – IMPLEMENT QUALITY IMPROVEMENT PROGRAMS:</a:t>
            </a:r>
          </a:p>
        </p:txBody>
      </p:sp>
      <p:sp>
        <p:nvSpPr>
          <p:cNvPr id="3" name="Content Placeholder 2"/>
          <p:cNvSpPr>
            <a:spLocks noGrp="1"/>
          </p:cNvSpPr>
          <p:nvPr>
            <p:ph idx="1"/>
          </p:nvPr>
        </p:nvSpPr>
        <p:spPr/>
        <p:txBody>
          <a:bodyPr>
            <a:normAutofit lnSpcReduction="10000"/>
          </a:bodyPr>
          <a:lstStyle/>
          <a:p>
            <a:pPr>
              <a:buNone/>
            </a:pPr>
            <a:r>
              <a:rPr lang="en-US" sz="2400" dirty="0"/>
              <a:t>Participation in quality improvement programs is imperative. The diagnostic medical sonographer: </a:t>
            </a:r>
          </a:p>
          <a:p>
            <a:pPr>
              <a:buNone/>
            </a:pPr>
            <a:r>
              <a:rPr lang="en-US" sz="2400" dirty="0"/>
              <a:t>1. Maintains a safe environment for patients and staff. </a:t>
            </a:r>
          </a:p>
          <a:p>
            <a:pPr>
              <a:buNone/>
            </a:pPr>
            <a:r>
              <a:rPr lang="en-US" sz="2400" dirty="0"/>
              <a:t>2. Performs quality improvement procedures to determine that equipment operates at optimal levels and to promote patient safety. </a:t>
            </a:r>
          </a:p>
          <a:p>
            <a:pPr>
              <a:buNone/>
            </a:pPr>
            <a:r>
              <a:rPr lang="en-US" sz="2400" dirty="0"/>
              <a:t>3. Participates in quality improvement programs that evaluate technical quality of </a:t>
            </a:r>
            <a:r>
              <a:rPr lang="en-US" sz="2400" dirty="0" err="1"/>
              <a:t>images,completeness</a:t>
            </a:r>
            <a:r>
              <a:rPr lang="en-US" sz="2400" dirty="0"/>
              <a:t> of examinations, and adherence to protocols. </a:t>
            </a:r>
          </a:p>
          <a:p>
            <a:pPr>
              <a:buNone/>
            </a:pPr>
            <a:r>
              <a:rPr lang="en-US" sz="2400" dirty="0"/>
              <a:t>4. Compares facility quality improvement standards to external metrics, such as accreditation criteria, evidence based literature, or accepted guidelines.</a:t>
            </a:r>
          </a:p>
        </p:txBody>
      </p:sp>
    </p:spTree>
    <p:extLst>
      <p:ext uri="{BB962C8B-B14F-4D97-AF65-F5344CB8AC3E}">
        <p14:creationId xmlns:p14="http://schemas.microsoft.com/office/powerpoint/2010/main" val="29502160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rgbClr val="FF0000"/>
                </a:solidFill>
              </a:rPr>
              <a:t>STANDARD – SELF-ASSESSMENT:</a:t>
            </a:r>
          </a:p>
        </p:txBody>
      </p:sp>
      <p:sp>
        <p:nvSpPr>
          <p:cNvPr id="3" name="Content Placeholder 2"/>
          <p:cNvSpPr>
            <a:spLocks noGrp="1"/>
          </p:cNvSpPr>
          <p:nvPr>
            <p:ph idx="1"/>
          </p:nvPr>
        </p:nvSpPr>
        <p:spPr>
          <a:xfrm>
            <a:off x="304800" y="1600200"/>
            <a:ext cx="8534400" cy="4525963"/>
          </a:xfrm>
        </p:spPr>
        <p:txBody>
          <a:bodyPr>
            <a:normAutofit/>
          </a:bodyPr>
          <a:lstStyle/>
          <a:p>
            <a:endParaRPr lang="en-US" dirty="0"/>
          </a:p>
          <a:p>
            <a:pPr>
              <a:buNone/>
            </a:pPr>
            <a:r>
              <a:rPr lang="en-US" sz="2400" dirty="0"/>
              <a:t> Self-assessment is an essential component in professional growth and development. Self-assessment involves evaluation of personal performance, knowledge, and skills. </a:t>
            </a:r>
          </a:p>
          <a:p>
            <a:pPr>
              <a:buNone/>
            </a:pPr>
            <a:r>
              <a:rPr lang="en-US" sz="2400" dirty="0"/>
              <a:t>1.  Recognizes strengths and uses them to benefit patients, coworkers, and the profession. </a:t>
            </a:r>
          </a:p>
          <a:p>
            <a:pPr>
              <a:buNone/>
            </a:pPr>
            <a:r>
              <a:rPr lang="en-US" sz="2400" dirty="0"/>
              <a:t>2. Recognizes weaknesses and limitations and performs procedures only after receiving appropriate education and supervised clinical experience in any deficient area.</a:t>
            </a:r>
          </a:p>
        </p:txBody>
      </p:sp>
    </p:spTree>
    <p:extLst>
      <p:ext uri="{BB962C8B-B14F-4D97-AF65-F5344CB8AC3E}">
        <p14:creationId xmlns:p14="http://schemas.microsoft.com/office/powerpoint/2010/main" val="1782633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rgbClr val="FF0000"/>
                </a:solidFill>
              </a:rPr>
              <a:t>STANDARD – EDUCATION:</a:t>
            </a:r>
          </a:p>
        </p:txBody>
      </p:sp>
      <p:sp>
        <p:nvSpPr>
          <p:cNvPr id="3" name="Content Placeholder 2"/>
          <p:cNvSpPr>
            <a:spLocks noGrp="1"/>
          </p:cNvSpPr>
          <p:nvPr>
            <p:ph idx="1"/>
          </p:nvPr>
        </p:nvSpPr>
        <p:spPr/>
        <p:txBody>
          <a:bodyPr/>
          <a:lstStyle/>
          <a:p>
            <a:pPr>
              <a:buNone/>
            </a:pPr>
            <a:r>
              <a:rPr lang="en-US" sz="2400" dirty="0"/>
              <a:t>Advances in medical science and technology occur very rapidly, requiring an on-going commitment to professional education. The diagnostic medical sonographer:</a:t>
            </a:r>
          </a:p>
          <a:p>
            <a:pPr>
              <a:buNone/>
            </a:pPr>
            <a:r>
              <a:rPr lang="en-US" sz="2400" dirty="0"/>
              <a:t>1. Obtains and maintains appropriate professional certification/credential in areas of clinical practice.</a:t>
            </a:r>
          </a:p>
          <a:p>
            <a:pPr>
              <a:buNone/>
            </a:pPr>
            <a:r>
              <a:rPr lang="en-US" sz="2400" dirty="0"/>
              <a:t> 2.  Recognizes and takes advantage of opportunities for educational and professional growth. </a:t>
            </a:r>
          </a:p>
        </p:txBody>
      </p:sp>
    </p:spTree>
    <p:extLst>
      <p:ext uri="{BB962C8B-B14F-4D97-AF65-F5344CB8AC3E}">
        <p14:creationId xmlns:p14="http://schemas.microsoft.com/office/powerpoint/2010/main" val="381060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00"/>
            <a:ext cx="7886700" cy="533400"/>
          </a:xfrm>
        </p:spPr>
        <p:txBody>
          <a:bodyPr>
            <a:normAutofit/>
          </a:bodyPr>
          <a:lstStyle/>
          <a:p>
            <a:pPr algn="ctr"/>
            <a:r>
              <a:rPr lang="en-US" sz="2800" b="1" dirty="0">
                <a:solidFill>
                  <a:srgbClr val="FF0000"/>
                </a:solidFill>
              </a:rPr>
              <a:t>Principle I:</a:t>
            </a:r>
          </a:p>
        </p:txBody>
      </p:sp>
      <p:sp>
        <p:nvSpPr>
          <p:cNvPr id="3" name="Content Placeholder 2"/>
          <p:cNvSpPr>
            <a:spLocks noGrp="1"/>
          </p:cNvSpPr>
          <p:nvPr>
            <p:ph idx="1"/>
          </p:nvPr>
        </p:nvSpPr>
        <p:spPr>
          <a:xfrm>
            <a:off x="530678" y="866898"/>
            <a:ext cx="7886700" cy="5762501"/>
          </a:xfrm>
        </p:spPr>
        <p:txBody>
          <a:bodyPr>
            <a:normAutofit/>
          </a:bodyPr>
          <a:lstStyle/>
          <a:p>
            <a:pPr marL="0" indent="0">
              <a:buNone/>
            </a:pPr>
            <a:r>
              <a:rPr lang="en-US" sz="2400" b="1" dirty="0"/>
              <a:t>         </a:t>
            </a:r>
            <a:r>
              <a:rPr lang="en-US" sz="2400" dirty="0"/>
              <a:t> The diagnostic medical sonographer shall: </a:t>
            </a:r>
          </a:p>
          <a:p>
            <a:r>
              <a:rPr lang="en-US" sz="2800" dirty="0"/>
              <a:t>A. Provide information to the patient about the purpose of the sonography procedure and respond to the patient's questions and concerns. </a:t>
            </a:r>
          </a:p>
          <a:p>
            <a:r>
              <a:rPr lang="en-US" sz="2800" dirty="0"/>
              <a:t>B. Respect the patient's autonomy and the right to refuse the procedure.</a:t>
            </a:r>
          </a:p>
          <a:p>
            <a:r>
              <a:rPr lang="en-US" sz="2800" dirty="0"/>
              <a:t> C. Recognize the patient's individuality and provide care in a non-judgmental and non-discriminatory manner</a:t>
            </a:r>
            <a:r>
              <a:rPr lang="en-US" sz="2400" dirty="0"/>
              <a:t>. </a:t>
            </a:r>
          </a:p>
        </p:txBody>
      </p:sp>
    </p:spTree>
    <p:extLst>
      <p:ext uri="{BB962C8B-B14F-4D97-AF65-F5344CB8AC3E}">
        <p14:creationId xmlns:p14="http://schemas.microsoft.com/office/powerpoint/2010/main" val="16482125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08E1B-F3CD-47B5-B1CA-77EB4B9518C3}"/>
              </a:ext>
            </a:extLst>
          </p:cNvPr>
          <p:cNvSpPr>
            <a:spLocks noGrp="1"/>
          </p:cNvSpPr>
          <p:nvPr>
            <p:ph type="title"/>
          </p:nvPr>
        </p:nvSpPr>
        <p:spPr>
          <a:xfrm>
            <a:off x="457200" y="274638"/>
            <a:ext cx="8229600" cy="715962"/>
          </a:xfrm>
        </p:spPr>
        <p:txBody>
          <a:bodyPr>
            <a:normAutofit fontScale="90000"/>
          </a:bodyPr>
          <a:lstStyle/>
          <a:p>
            <a:r>
              <a:rPr lang="en-US" b="1" dirty="0">
                <a:solidFill>
                  <a:srgbClr val="FF0000"/>
                </a:solidFill>
              </a:rPr>
              <a:t>Principle I:</a:t>
            </a:r>
            <a:endParaRPr lang="en-US" dirty="0"/>
          </a:p>
        </p:txBody>
      </p:sp>
      <p:sp>
        <p:nvSpPr>
          <p:cNvPr id="3" name="Content Placeholder 2">
            <a:extLst>
              <a:ext uri="{FF2B5EF4-FFF2-40B4-BE49-F238E27FC236}">
                <a16:creationId xmlns:a16="http://schemas.microsoft.com/office/drawing/2014/main" id="{0F39A486-2B96-4BCF-B348-E5E1088ABB6C}"/>
              </a:ext>
            </a:extLst>
          </p:cNvPr>
          <p:cNvSpPr>
            <a:spLocks noGrp="1"/>
          </p:cNvSpPr>
          <p:nvPr>
            <p:ph idx="1"/>
          </p:nvPr>
        </p:nvSpPr>
        <p:spPr/>
        <p:txBody>
          <a:bodyPr>
            <a:normAutofit fontScale="92500" lnSpcReduction="10000"/>
          </a:bodyPr>
          <a:lstStyle/>
          <a:p>
            <a:r>
              <a:rPr lang="en-US" dirty="0"/>
              <a:t>D. Promote the privacy, dignity and comfort of the patient by thoroughly explaining the examination, patient positioning and implementing proper draping techniques.</a:t>
            </a:r>
          </a:p>
          <a:p>
            <a:r>
              <a:rPr lang="en-US" dirty="0"/>
              <a:t> E. Maintain confidentiality of acquired patient information, and follow national patient privacy regulations as required by (HIPAA).“</a:t>
            </a:r>
          </a:p>
          <a:p>
            <a:r>
              <a:rPr lang="en-US" dirty="0"/>
              <a:t> F. Promote patient safety during the provision of sonography procedures and while the patient is in the care of the diagnostic medical sonographer. </a:t>
            </a:r>
          </a:p>
          <a:p>
            <a:endParaRPr lang="en-US" dirty="0"/>
          </a:p>
        </p:txBody>
      </p:sp>
    </p:spTree>
    <p:extLst>
      <p:ext uri="{BB962C8B-B14F-4D97-AF65-F5344CB8AC3E}">
        <p14:creationId xmlns:p14="http://schemas.microsoft.com/office/powerpoint/2010/main" val="21834460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dirty="0">
                <a:solidFill>
                  <a:srgbClr val="FF0000"/>
                </a:solidFill>
              </a:rPr>
              <a:t>Principle II:</a:t>
            </a:r>
          </a:p>
        </p:txBody>
      </p:sp>
      <p:sp>
        <p:nvSpPr>
          <p:cNvPr id="3" name="Content Placeholder 2"/>
          <p:cNvSpPr>
            <a:spLocks noGrp="1"/>
          </p:cNvSpPr>
          <p:nvPr>
            <p:ph idx="1"/>
          </p:nvPr>
        </p:nvSpPr>
        <p:spPr>
          <a:xfrm>
            <a:off x="457200" y="1600200"/>
            <a:ext cx="8229600" cy="4525963"/>
          </a:xfrm>
        </p:spPr>
        <p:txBody>
          <a:bodyPr>
            <a:normAutofit fontScale="85000" lnSpcReduction="10000"/>
          </a:bodyPr>
          <a:lstStyle/>
          <a:p>
            <a:r>
              <a:rPr lang="en-US" dirty="0"/>
              <a:t>F. Perform medically indicated ultrasound studies, ordered by a licensed physician or their designated health care provider.</a:t>
            </a:r>
          </a:p>
          <a:p>
            <a:r>
              <a:rPr lang="en-US" dirty="0"/>
              <a:t>G. Protect patients and/or study subject procedures, including documented informed consent.</a:t>
            </a:r>
          </a:p>
          <a:p>
            <a:r>
              <a:rPr lang="en-US" dirty="0"/>
              <a:t>H. Refrain from the use of any substances that may alter judgment or skill and thereby compromise patient care.</a:t>
            </a:r>
          </a:p>
          <a:p>
            <a:r>
              <a:rPr lang="en-US" dirty="0"/>
              <a:t>I. Be accountable and participate in regular assessment and review of equipment, procedures, and protocols.</a:t>
            </a:r>
          </a:p>
          <a:p>
            <a:endParaRPr lang="en-US" dirty="0"/>
          </a:p>
        </p:txBody>
      </p:sp>
    </p:spTree>
    <p:extLst>
      <p:ext uri="{BB962C8B-B14F-4D97-AF65-F5344CB8AC3E}">
        <p14:creationId xmlns:p14="http://schemas.microsoft.com/office/powerpoint/2010/main" val="11144504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06C67-2FDD-4D28-828C-C1CA4400ECA1}"/>
              </a:ext>
            </a:extLst>
          </p:cNvPr>
          <p:cNvSpPr>
            <a:spLocks noGrp="1"/>
          </p:cNvSpPr>
          <p:nvPr>
            <p:ph type="title"/>
          </p:nvPr>
        </p:nvSpPr>
        <p:spPr/>
        <p:txBody>
          <a:bodyPr/>
          <a:lstStyle/>
          <a:p>
            <a:r>
              <a:rPr lang="en-US" dirty="0">
                <a:solidFill>
                  <a:srgbClr val="FF0000"/>
                </a:solidFill>
              </a:rPr>
              <a:t>Principle II:</a:t>
            </a:r>
            <a:endParaRPr lang="en-US" dirty="0"/>
          </a:p>
        </p:txBody>
      </p:sp>
      <p:sp>
        <p:nvSpPr>
          <p:cNvPr id="3" name="Content Placeholder 2">
            <a:extLst>
              <a:ext uri="{FF2B5EF4-FFF2-40B4-BE49-F238E27FC236}">
                <a16:creationId xmlns:a16="http://schemas.microsoft.com/office/drawing/2014/main" id="{6967AC99-DEBE-4084-83C9-F17ED5463E88}"/>
              </a:ext>
            </a:extLst>
          </p:cNvPr>
          <p:cNvSpPr>
            <a:spLocks noGrp="1"/>
          </p:cNvSpPr>
          <p:nvPr>
            <p:ph idx="1"/>
          </p:nvPr>
        </p:nvSpPr>
        <p:spPr/>
        <p:txBody>
          <a:bodyPr>
            <a:normAutofit fontScale="92500" lnSpcReduction="10000"/>
          </a:bodyPr>
          <a:lstStyle/>
          <a:p>
            <a:r>
              <a:rPr lang="en-US" dirty="0">
                <a:solidFill>
                  <a:schemeClr val="tx1">
                    <a:lumMod val="95000"/>
                    <a:lumOff val="5000"/>
                  </a:schemeClr>
                </a:solidFill>
              </a:rPr>
              <a:t>C. Uphold professional standards by adhering to defined technical protocols and diagnostic criteria established by peer review.</a:t>
            </a:r>
          </a:p>
          <a:p>
            <a:r>
              <a:rPr lang="en-US" dirty="0">
                <a:solidFill>
                  <a:schemeClr val="tx1">
                    <a:lumMod val="95000"/>
                    <a:lumOff val="5000"/>
                  </a:schemeClr>
                </a:solidFill>
              </a:rPr>
              <a:t>D. Acknowledge personal and legal limits, practice within the defined scope of practice and assume responsibility for his/her actions.</a:t>
            </a:r>
          </a:p>
          <a:p>
            <a:r>
              <a:rPr lang="en-US" dirty="0"/>
              <a:t>E. Maintain continued competence through lifelong learning, which includes continuing education, acquisition of specialty specific credentials and recredentialing.</a:t>
            </a:r>
          </a:p>
          <a:p>
            <a:endParaRPr lang="en-US" dirty="0"/>
          </a:p>
        </p:txBody>
      </p:sp>
    </p:spTree>
    <p:extLst>
      <p:ext uri="{BB962C8B-B14F-4D97-AF65-F5344CB8AC3E}">
        <p14:creationId xmlns:p14="http://schemas.microsoft.com/office/powerpoint/2010/main" val="30648180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E5FC9-C807-40F8-A088-08E6F5D07570}"/>
              </a:ext>
            </a:extLst>
          </p:cNvPr>
          <p:cNvSpPr>
            <a:spLocks noGrp="1"/>
          </p:cNvSpPr>
          <p:nvPr>
            <p:ph type="title"/>
          </p:nvPr>
        </p:nvSpPr>
        <p:spPr>
          <a:xfrm>
            <a:off x="457200" y="274638"/>
            <a:ext cx="8229600" cy="457199"/>
          </a:xfrm>
        </p:spPr>
        <p:txBody>
          <a:bodyPr>
            <a:normAutofit fontScale="90000"/>
          </a:bodyPr>
          <a:lstStyle/>
          <a:p>
            <a:r>
              <a:rPr lang="en-US" b="1" dirty="0">
                <a:solidFill>
                  <a:srgbClr val="FF0000"/>
                </a:solidFill>
              </a:rPr>
              <a:t>Principle III</a:t>
            </a:r>
            <a:endParaRPr lang="en-US" dirty="0"/>
          </a:p>
        </p:txBody>
      </p:sp>
      <p:sp>
        <p:nvSpPr>
          <p:cNvPr id="3" name="Content Placeholder 2">
            <a:extLst>
              <a:ext uri="{FF2B5EF4-FFF2-40B4-BE49-F238E27FC236}">
                <a16:creationId xmlns:a16="http://schemas.microsoft.com/office/drawing/2014/main" id="{B146F4F2-D6D8-4059-AB9C-6974D859C47E}"/>
              </a:ext>
            </a:extLst>
          </p:cNvPr>
          <p:cNvSpPr>
            <a:spLocks noGrp="1"/>
          </p:cNvSpPr>
          <p:nvPr>
            <p:ph idx="1"/>
          </p:nvPr>
        </p:nvSpPr>
        <p:spPr>
          <a:xfrm>
            <a:off x="457200" y="990600"/>
            <a:ext cx="8229600" cy="5135563"/>
          </a:xfrm>
        </p:spPr>
        <p:txBody>
          <a:bodyPr>
            <a:normAutofit lnSpcReduction="10000"/>
          </a:bodyPr>
          <a:lstStyle/>
          <a:p>
            <a:r>
              <a:rPr lang="en-US" dirty="0"/>
              <a:t>F. Collaborate with professional colleagues to create an environment that promotes communication and respect.</a:t>
            </a:r>
          </a:p>
          <a:p>
            <a:r>
              <a:rPr lang="en-US" dirty="0"/>
              <a:t>G. Communicate and collaborate with others to promote ethical practice.</a:t>
            </a:r>
          </a:p>
          <a:p>
            <a:r>
              <a:rPr lang="en-US" dirty="0"/>
              <a:t>H. Engage in ethical billing practices.</a:t>
            </a:r>
          </a:p>
          <a:p>
            <a:r>
              <a:rPr lang="en-US" dirty="0"/>
              <a:t>I. Engage only in legal arrangements in the medical industry.</a:t>
            </a:r>
          </a:p>
          <a:p>
            <a:r>
              <a:rPr lang="en-US" dirty="0"/>
              <a:t>J. Report deviations from the Code of Ethics to institutional leadership</a:t>
            </a:r>
          </a:p>
        </p:txBody>
      </p:sp>
    </p:spTree>
    <p:extLst>
      <p:ext uri="{BB962C8B-B14F-4D97-AF65-F5344CB8AC3E}">
        <p14:creationId xmlns:p14="http://schemas.microsoft.com/office/powerpoint/2010/main" val="14490290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2800" b="1" dirty="0">
                <a:solidFill>
                  <a:srgbClr val="FF0000"/>
                </a:solidFill>
              </a:rPr>
              <a:t>SDMS</a:t>
            </a:r>
            <a:br>
              <a:rPr lang="en-US" sz="2800" b="1" dirty="0">
                <a:solidFill>
                  <a:srgbClr val="FF0000"/>
                </a:solidFill>
              </a:rPr>
            </a:br>
            <a:r>
              <a:rPr lang="en-US" sz="2800" b="1" dirty="0">
                <a:solidFill>
                  <a:srgbClr val="FF0000"/>
                </a:solidFill>
              </a:rPr>
              <a:t>Code of Ethics for the Profession of Diagnostic Medical Sonography -</a:t>
            </a:r>
          </a:p>
        </p:txBody>
      </p:sp>
      <p:sp>
        <p:nvSpPr>
          <p:cNvPr id="3" name="Content Placeholder 2"/>
          <p:cNvSpPr>
            <a:spLocks noGrp="1"/>
          </p:cNvSpPr>
          <p:nvPr>
            <p:ph idx="1"/>
          </p:nvPr>
        </p:nvSpPr>
        <p:spPr/>
        <p:txBody>
          <a:bodyPr>
            <a:normAutofit lnSpcReduction="10000"/>
          </a:bodyPr>
          <a:lstStyle/>
          <a:p>
            <a:r>
              <a:rPr lang="en-US" sz="2400" dirty="0"/>
              <a:t>The goal of this code of ethics is to promote excellence in patient care by fostering responsibility and accountability among diagnostic medical sonographers. In so doing, the integrity of the profession of diagnostic medical sonography will be maintained. </a:t>
            </a:r>
          </a:p>
          <a:p>
            <a:endParaRPr lang="en-US" sz="2400" dirty="0"/>
          </a:p>
          <a:p>
            <a:r>
              <a:rPr lang="en-US" sz="2400" dirty="0"/>
              <a:t>To create and encourage an environment where professional and ethical issues are discussed and addressed.</a:t>
            </a:r>
          </a:p>
          <a:p>
            <a:r>
              <a:rPr lang="en-US" sz="2400" dirty="0"/>
              <a:t> To help the individual diagnostic medical sonographer identify ethical issues. </a:t>
            </a:r>
          </a:p>
          <a:p>
            <a:r>
              <a:rPr lang="en-US" sz="2400" dirty="0"/>
              <a:t>To provide guidelines for individual diagnostic medical sonographers regarding ethical behavior.</a:t>
            </a:r>
          </a:p>
        </p:txBody>
      </p:sp>
    </p:spTree>
    <p:extLst>
      <p:ext uri="{BB962C8B-B14F-4D97-AF65-F5344CB8AC3E}">
        <p14:creationId xmlns:p14="http://schemas.microsoft.com/office/powerpoint/2010/main" val="20223892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ctr"/>
            <a:r>
              <a:rPr lang="en-US" sz="2800" b="1" dirty="0">
                <a:solidFill>
                  <a:srgbClr val="FF0000"/>
                </a:solidFill>
              </a:rPr>
              <a:t>Guiding ethical principles of medical ethics</a:t>
            </a:r>
          </a:p>
        </p:txBody>
      </p:sp>
      <p:sp>
        <p:nvSpPr>
          <p:cNvPr id="3" name="Content Placeholder 2"/>
          <p:cNvSpPr>
            <a:spLocks noGrp="1"/>
          </p:cNvSpPr>
          <p:nvPr>
            <p:ph idx="1"/>
          </p:nvPr>
        </p:nvSpPr>
        <p:spPr/>
        <p:txBody>
          <a:bodyPr>
            <a:normAutofit/>
          </a:bodyPr>
          <a:lstStyle/>
          <a:p>
            <a:r>
              <a:rPr lang="en-US" sz="2400" dirty="0">
                <a:solidFill>
                  <a:srgbClr val="FF0000"/>
                </a:solidFill>
              </a:rPr>
              <a:t>Principles of the sanctity of life- </a:t>
            </a:r>
            <a:r>
              <a:rPr lang="en-US" sz="2400" dirty="0"/>
              <a:t>One cannot make life and death decisions for patients based on personal values. Nobody has the right to conclude that another person’s life is not of value and should be terminated.</a:t>
            </a:r>
          </a:p>
          <a:p>
            <a:pPr marL="0" indent="0">
              <a:buNone/>
            </a:pPr>
            <a:endParaRPr lang="en-US" sz="2400" dirty="0"/>
          </a:p>
          <a:p>
            <a:r>
              <a:rPr lang="en-US" sz="2400" dirty="0">
                <a:solidFill>
                  <a:srgbClr val="FF0000"/>
                </a:solidFill>
              </a:rPr>
              <a:t>Principle of veracity- </a:t>
            </a:r>
            <a:r>
              <a:rPr lang="en-US" sz="2400" dirty="0"/>
              <a:t>Refers to the honesty in all aspects of one’s life.</a:t>
            </a:r>
          </a:p>
          <a:p>
            <a:pPr marL="0" indent="0">
              <a:buNone/>
            </a:pPr>
            <a:endParaRPr lang="en-US" sz="2400" dirty="0"/>
          </a:p>
          <a:p>
            <a:r>
              <a:rPr lang="en-US" sz="2400" dirty="0">
                <a:solidFill>
                  <a:srgbClr val="FF0000"/>
                </a:solidFill>
              </a:rPr>
              <a:t>Principle of respect of property- </a:t>
            </a:r>
            <a:r>
              <a:rPr lang="en-US" sz="2400" dirty="0"/>
              <a:t>Refers to keeping the patients’ belongings safe and taking care not to damage it</a:t>
            </a:r>
          </a:p>
        </p:txBody>
      </p:sp>
    </p:spTree>
    <p:extLst>
      <p:ext uri="{BB962C8B-B14F-4D97-AF65-F5344CB8AC3E}">
        <p14:creationId xmlns:p14="http://schemas.microsoft.com/office/powerpoint/2010/main" val="29882086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pPr algn="ctr"/>
            <a:r>
              <a:rPr lang="en-US" sz="2800" b="1" dirty="0">
                <a:solidFill>
                  <a:srgbClr val="FF0000"/>
                </a:solidFill>
              </a:rPr>
              <a:t>STANDARD – ETHICS:</a:t>
            </a:r>
          </a:p>
        </p:txBody>
      </p:sp>
      <p:sp>
        <p:nvSpPr>
          <p:cNvPr id="3" name="Content Placeholder 2"/>
          <p:cNvSpPr>
            <a:spLocks noGrp="1"/>
          </p:cNvSpPr>
          <p:nvPr>
            <p:ph idx="1"/>
          </p:nvPr>
        </p:nvSpPr>
        <p:spPr>
          <a:xfrm>
            <a:off x="457200" y="990600"/>
            <a:ext cx="8229600" cy="5486400"/>
          </a:xfrm>
        </p:spPr>
        <p:txBody>
          <a:bodyPr>
            <a:normAutofit/>
          </a:bodyPr>
          <a:lstStyle/>
          <a:p>
            <a:pPr marL="0" indent="0">
              <a:buNone/>
            </a:pPr>
            <a:r>
              <a:rPr lang="en-US" sz="2400" dirty="0"/>
              <a:t>               The diagnostic medical sonographer: </a:t>
            </a:r>
          </a:p>
          <a:p>
            <a:r>
              <a:rPr lang="en-US" sz="2400" dirty="0"/>
              <a:t>1.  Adheres to accepted professional ethical standards. </a:t>
            </a:r>
          </a:p>
          <a:p>
            <a:r>
              <a:rPr lang="en-US" sz="2400" dirty="0"/>
              <a:t>2.  Is accountable for professional judgments and decisions. </a:t>
            </a:r>
          </a:p>
          <a:p>
            <a:r>
              <a:rPr lang="en-US" sz="2400" dirty="0"/>
              <a:t>3.  Provides patient care with equal respect for all. </a:t>
            </a:r>
          </a:p>
          <a:p>
            <a:r>
              <a:rPr lang="en-US" sz="2400" dirty="0"/>
              <a:t>4.  Respects and promotes patient rights, provides patient care with respect for patient dignity and needs, and acts as a patient advocate.</a:t>
            </a:r>
          </a:p>
          <a:p>
            <a:r>
              <a:rPr lang="en-US" sz="2400" dirty="0"/>
              <a:t> 5.  Does not perform sonographic procedures without a medical indication, except in educational activities. </a:t>
            </a:r>
          </a:p>
          <a:p>
            <a:r>
              <a:rPr lang="en-US" sz="2400" dirty="0"/>
              <a:t>6.  Adheres to this scope of practice and other related professional documents</a:t>
            </a:r>
          </a:p>
        </p:txBody>
      </p:sp>
    </p:spTree>
    <p:extLst>
      <p:ext uri="{BB962C8B-B14F-4D97-AF65-F5344CB8AC3E}">
        <p14:creationId xmlns:p14="http://schemas.microsoft.com/office/powerpoint/2010/main" val="7043662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rgbClr val="FF0000"/>
                </a:solidFill>
              </a:rPr>
              <a:t>STANDARD – COLLABORATION:</a:t>
            </a:r>
          </a:p>
        </p:txBody>
      </p:sp>
      <p:sp>
        <p:nvSpPr>
          <p:cNvPr id="3" name="Content Placeholder 2"/>
          <p:cNvSpPr>
            <a:spLocks noGrp="1"/>
          </p:cNvSpPr>
          <p:nvPr>
            <p:ph idx="1"/>
          </p:nvPr>
        </p:nvSpPr>
        <p:spPr/>
        <p:txBody>
          <a:bodyPr>
            <a:normAutofit/>
          </a:bodyPr>
          <a:lstStyle/>
          <a:p>
            <a:pPr>
              <a:buNone/>
            </a:pPr>
            <a:r>
              <a:rPr lang="en-US" sz="2400" dirty="0"/>
              <a:t>Quality patient care is provided when all members of the healthcare team communicate and collaborate efficiently.</a:t>
            </a:r>
          </a:p>
          <a:p>
            <a:pPr>
              <a:buNone/>
            </a:pPr>
            <a:r>
              <a:rPr lang="en-US" sz="2400" dirty="0"/>
              <a:t> The diagnostic medical sonographer: </a:t>
            </a:r>
          </a:p>
          <a:p>
            <a:pPr>
              <a:buNone/>
            </a:pPr>
            <a:r>
              <a:rPr lang="en-US" sz="2400" dirty="0"/>
              <a:t>1.  Promotes a positive and collaborative atmosphere with members of the healthcare team. </a:t>
            </a:r>
          </a:p>
          <a:p>
            <a:pPr>
              <a:buNone/>
            </a:pPr>
            <a:r>
              <a:rPr lang="en-US" sz="2400" dirty="0"/>
              <a:t>2. Communicates effectively with members of the healthcare team regarding the welfare of the patient. </a:t>
            </a:r>
          </a:p>
          <a:p>
            <a:pPr>
              <a:buNone/>
            </a:pPr>
            <a:r>
              <a:rPr lang="en-US" sz="2400" dirty="0"/>
              <a:t>3. Shares knowledge and expertise with colleagues, patients, students, and members of the healthcare team.</a:t>
            </a:r>
          </a:p>
        </p:txBody>
      </p:sp>
    </p:spTree>
    <p:extLst>
      <p:ext uri="{BB962C8B-B14F-4D97-AF65-F5344CB8AC3E}">
        <p14:creationId xmlns:p14="http://schemas.microsoft.com/office/powerpoint/2010/main" val="12728397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defRPr/>
            </a:pPr>
            <a:fld id="{EDCF1D83-6F94-4DD0-A03B-4B91659ED7A4}" type="slidenum">
              <a:rPr lang="en-US" smtClean="0"/>
              <a:pPr>
                <a:defRPr/>
              </a:pPr>
              <a:t>52</a:t>
            </a:fld>
            <a:endParaRPr lang="en-US"/>
          </a:p>
        </p:txBody>
      </p:sp>
      <p:pic>
        <p:nvPicPr>
          <p:cNvPr id="9219" name="Picture 2" descr="C:\Users\User\Desktop\hero-medical-imaging-diagnostic-medical-sonography-schools-interview.jpg"/>
          <p:cNvPicPr>
            <a:picLocks noChangeAspect="1" noChangeArrowheads="1"/>
          </p:cNvPicPr>
          <p:nvPr/>
        </p:nvPicPr>
        <p:blipFill>
          <a:blip r:embed="rId2" cstate="print"/>
          <a:srcRect/>
          <a:stretch>
            <a:fillRect/>
          </a:stretch>
        </p:blipFill>
        <p:spPr bwMode="auto">
          <a:xfrm>
            <a:off x="304800" y="1762125"/>
            <a:ext cx="4724400" cy="3333750"/>
          </a:xfrm>
          <a:prstGeom prst="rect">
            <a:avLst/>
          </a:prstGeom>
          <a:noFill/>
          <a:ln w="9525">
            <a:noFill/>
            <a:miter lim="800000"/>
            <a:headEnd/>
            <a:tailEnd/>
          </a:ln>
        </p:spPr>
      </p:pic>
      <p:pic>
        <p:nvPicPr>
          <p:cNvPr id="9220" name="Picture 3" descr="C:\Users\User\Desktop\Sonography.jpg"/>
          <p:cNvPicPr>
            <a:picLocks noChangeAspect="1" noChangeArrowheads="1"/>
          </p:cNvPicPr>
          <p:nvPr/>
        </p:nvPicPr>
        <p:blipFill>
          <a:blip r:embed="rId3" cstate="print"/>
          <a:srcRect/>
          <a:stretch>
            <a:fillRect/>
          </a:stretch>
        </p:blipFill>
        <p:spPr bwMode="auto">
          <a:xfrm>
            <a:off x="5105400" y="1752600"/>
            <a:ext cx="4038600" cy="3276600"/>
          </a:xfrm>
          <a:prstGeom prst="rect">
            <a:avLst/>
          </a:prstGeom>
          <a:noFill/>
          <a:ln w="9525">
            <a:noFill/>
            <a:miter lim="800000"/>
            <a:headEnd/>
            <a:tailEnd/>
          </a:ln>
        </p:spPr>
      </p:pic>
    </p:spTree>
    <p:extLst>
      <p:ext uri="{BB962C8B-B14F-4D97-AF65-F5344CB8AC3E}">
        <p14:creationId xmlns:p14="http://schemas.microsoft.com/office/powerpoint/2010/main" val="1745263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229600" cy="563562"/>
          </a:xfrm>
        </p:spPr>
        <p:txBody>
          <a:bodyPr>
            <a:normAutofit fontScale="90000"/>
          </a:bodyPr>
          <a:lstStyle/>
          <a:p>
            <a:pPr algn="l"/>
            <a:r>
              <a:rPr lang="en-US" altLang="en-US" dirty="0">
                <a:solidFill>
                  <a:srgbClr val="FF0000"/>
                </a:solidFill>
              </a:rPr>
              <a:t>Documents for  Ultrasound Studies</a:t>
            </a:r>
          </a:p>
        </p:txBody>
      </p:sp>
      <p:sp>
        <p:nvSpPr>
          <p:cNvPr id="11267" name="Rectangle 3"/>
          <p:cNvSpPr>
            <a:spLocks noGrp="1" noChangeArrowheads="1"/>
          </p:cNvSpPr>
          <p:nvPr>
            <p:ph type="body" idx="1"/>
          </p:nvPr>
        </p:nvSpPr>
        <p:spPr/>
        <p:txBody>
          <a:bodyPr/>
          <a:lstStyle/>
          <a:p>
            <a:r>
              <a:rPr lang="en-US" altLang="en-US" dirty="0"/>
              <a:t>Ultrasound requisition / Prescription  </a:t>
            </a:r>
          </a:p>
          <a:p>
            <a:r>
              <a:rPr lang="en-US" altLang="en-US" dirty="0"/>
              <a:t>Patient chart</a:t>
            </a:r>
          </a:p>
          <a:p>
            <a:r>
              <a:rPr lang="en-US" altLang="en-US" dirty="0"/>
              <a:t>Technical observation</a:t>
            </a:r>
          </a:p>
          <a:p>
            <a:r>
              <a:rPr lang="en-US" altLang="en-US" dirty="0"/>
              <a:t>Final interpretive report </a:t>
            </a:r>
          </a:p>
        </p:txBody>
      </p:sp>
      <p:sp>
        <p:nvSpPr>
          <p:cNvPr id="11" name="Slide Number Placeholder 10"/>
          <p:cNvSpPr>
            <a:spLocks noGrp="1"/>
          </p:cNvSpPr>
          <p:nvPr>
            <p:ph type="sldNum" sz="quarter" idx="11"/>
          </p:nvPr>
        </p:nvSpPr>
        <p:spPr/>
        <p:txBody>
          <a:bodyPr/>
          <a:lstStyle/>
          <a:p>
            <a:fld id="{CFAB7BCF-FF84-427B-8FC0-CAEDD66DC642}" type="slidenum">
              <a:rPr lang="en-US" smtClean="0"/>
              <a:pPr/>
              <a:t>53</a:t>
            </a:fld>
            <a:endParaRPr lang="en-US" dirty="0"/>
          </a:p>
        </p:txBody>
      </p:sp>
    </p:spTree>
    <p:extLst>
      <p:ext uri="{BB962C8B-B14F-4D97-AF65-F5344CB8AC3E}">
        <p14:creationId xmlns:p14="http://schemas.microsoft.com/office/powerpoint/2010/main" val="23627274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229600" cy="457199"/>
          </a:xfrm>
        </p:spPr>
        <p:txBody>
          <a:bodyPr>
            <a:normAutofit fontScale="90000"/>
          </a:bodyPr>
          <a:lstStyle/>
          <a:p>
            <a:r>
              <a:rPr lang="en-US" altLang="en-US" dirty="0">
                <a:solidFill>
                  <a:srgbClr val="FF0000"/>
                </a:solidFill>
              </a:rPr>
              <a:t>Ultrasound Request Form</a:t>
            </a:r>
          </a:p>
        </p:txBody>
      </p:sp>
      <p:sp>
        <p:nvSpPr>
          <p:cNvPr id="13315" name="Rectangle 3"/>
          <p:cNvSpPr>
            <a:spLocks noGrp="1" noChangeArrowheads="1"/>
          </p:cNvSpPr>
          <p:nvPr>
            <p:ph type="body" sz="half" idx="1"/>
          </p:nvPr>
        </p:nvSpPr>
        <p:spPr>
          <a:xfrm>
            <a:off x="244973" y="992188"/>
            <a:ext cx="4250827" cy="5591174"/>
          </a:xfrm>
        </p:spPr>
        <p:txBody>
          <a:bodyPr>
            <a:normAutofit fontScale="92500" lnSpcReduction="20000"/>
          </a:bodyPr>
          <a:lstStyle/>
          <a:p>
            <a:pPr marL="0" indent="0">
              <a:buNone/>
            </a:pPr>
            <a:r>
              <a:rPr lang="en-US" altLang="en-US" b="1" dirty="0"/>
              <a:t>Section One </a:t>
            </a:r>
          </a:p>
          <a:p>
            <a:r>
              <a:rPr lang="en-US" altLang="en-US" dirty="0"/>
              <a:t>Essential clinical facts</a:t>
            </a:r>
          </a:p>
          <a:p>
            <a:r>
              <a:rPr lang="en-US" altLang="en-US" b="1" dirty="0">
                <a:solidFill>
                  <a:srgbClr val="FF0000"/>
                </a:solidFill>
                <a:latin typeface="Arial" charset="0"/>
                <a:cs typeface="Arial" charset="0"/>
              </a:rPr>
              <a:t>Patient identification</a:t>
            </a:r>
            <a:r>
              <a:rPr lang="en-US" altLang="en-US" b="1" dirty="0">
                <a:latin typeface="Arial" charset="0"/>
                <a:cs typeface="Arial" charset="0"/>
              </a:rPr>
              <a:t>—</a:t>
            </a:r>
            <a:r>
              <a:rPr lang="en-US" altLang="en-US" dirty="0">
                <a:latin typeface="Arial" charset="0"/>
                <a:cs typeface="Arial" charset="0"/>
              </a:rPr>
              <a:t>patient name, medical record number, hospital room number if possible </a:t>
            </a:r>
          </a:p>
          <a:p>
            <a:r>
              <a:rPr lang="en-US" altLang="en-US" b="1" dirty="0">
                <a:solidFill>
                  <a:srgbClr val="FF0000"/>
                </a:solidFill>
                <a:latin typeface="Arial" charset="0"/>
                <a:cs typeface="Arial" charset="0"/>
              </a:rPr>
              <a:t>Examination priority and location</a:t>
            </a:r>
            <a:r>
              <a:rPr lang="en-US" altLang="en-US" dirty="0">
                <a:solidFill>
                  <a:srgbClr val="FF0000"/>
                </a:solidFill>
              </a:rPr>
              <a:t>—</a:t>
            </a:r>
            <a:r>
              <a:rPr lang="en-US" altLang="en-US" dirty="0">
                <a:latin typeface="Arial" charset="0"/>
                <a:cs typeface="Arial" charset="0"/>
              </a:rPr>
              <a:t>Is the examination STAT? Is the examination at the patient bedside (portable)? </a:t>
            </a:r>
          </a:p>
          <a:p>
            <a:r>
              <a:rPr lang="en-US" altLang="en-US" b="1" dirty="0">
                <a:solidFill>
                  <a:srgbClr val="FF0000"/>
                </a:solidFill>
                <a:latin typeface="Arial" charset="0"/>
                <a:cs typeface="Arial" charset="0"/>
              </a:rPr>
              <a:t>Patient precautions</a:t>
            </a:r>
            <a:r>
              <a:rPr lang="en-US" altLang="en-US" dirty="0"/>
              <a:t>—</a:t>
            </a:r>
            <a:r>
              <a:rPr lang="en-US" altLang="en-US" dirty="0">
                <a:latin typeface="Arial" charset="0"/>
                <a:cs typeface="Arial" charset="0"/>
              </a:rPr>
              <a:t>Are there any additional precautions necessary with this patient? </a:t>
            </a:r>
            <a:endParaRPr lang="en-US" altLang="en-US" b="1" dirty="0">
              <a:latin typeface="Arial" charset="0"/>
              <a:cs typeface="Arial" charset="0"/>
            </a:endParaRPr>
          </a:p>
          <a:p>
            <a:endParaRPr lang="en-US" altLang="en-US" dirty="0"/>
          </a:p>
        </p:txBody>
      </p:sp>
      <p:sp>
        <p:nvSpPr>
          <p:cNvPr id="12" name="Slide Number Placeholder 11"/>
          <p:cNvSpPr>
            <a:spLocks noGrp="1"/>
          </p:cNvSpPr>
          <p:nvPr>
            <p:ph type="sldNum" sz="quarter" idx="11"/>
          </p:nvPr>
        </p:nvSpPr>
        <p:spPr/>
        <p:txBody>
          <a:bodyPr/>
          <a:lstStyle/>
          <a:p>
            <a:fld id="{CFAB7BCF-FF84-427B-8FC0-CAEDD66DC642}" type="slidenum">
              <a:rPr lang="en-US" smtClean="0"/>
              <a:pPr/>
              <a:t>54</a:t>
            </a:fld>
            <a:endParaRPr lang="en-US" dirty="0"/>
          </a:p>
        </p:txBody>
      </p:sp>
      <p:pic>
        <p:nvPicPr>
          <p:cNvPr id="1026" name="Picture 2" descr="\\192.168.7.143\Course\ELSV3\k360_Cury4e\k360_Cury4e_12-Oct-2015\Images\jpg\Chapter01\001001.jpg"/>
          <p:cNvPicPr>
            <a:picLocks noChangeAspect="1" noChangeArrowheads="1"/>
          </p:cNvPicPr>
          <p:nvPr/>
        </p:nvPicPr>
        <p:blipFill>
          <a:blip r:embed="rId3" cstate="print"/>
          <a:srcRect/>
          <a:stretch>
            <a:fillRect/>
          </a:stretch>
        </p:blipFill>
        <p:spPr bwMode="auto">
          <a:xfrm>
            <a:off x="4664572" y="1313546"/>
            <a:ext cx="4250827" cy="5269816"/>
          </a:xfrm>
          <a:prstGeom prst="rect">
            <a:avLst/>
          </a:prstGeom>
          <a:noFill/>
        </p:spPr>
      </p:pic>
    </p:spTree>
    <p:extLst>
      <p:ext uri="{BB962C8B-B14F-4D97-AF65-F5344CB8AC3E}">
        <p14:creationId xmlns:p14="http://schemas.microsoft.com/office/powerpoint/2010/main" val="15494140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dirty="0">
                <a:solidFill>
                  <a:srgbClr val="FF0000"/>
                </a:solidFill>
              </a:rPr>
              <a:t>Ultrasound Request Form </a:t>
            </a:r>
            <a:endParaRPr lang="en-US" altLang="en-US" dirty="0"/>
          </a:p>
        </p:txBody>
      </p:sp>
      <p:sp>
        <p:nvSpPr>
          <p:cNvPr id="14339" name="Rectangle 3"/>
          <p:cNvSpPr>
            <a:spLocks noGrp="1" noChangeArrowheads="1"/>
          </p:cNvSpPr>
          <p:nvPr>
            <p:ph type="body" sz="half" idx="1"/>
          </p:nvPr>
        </p:nvSpPr>
        <p:spPr>
          <a:xfrm>
            <a:off x="457200" y="1600200"/>
            <a:ext cx="4038600" cy="4811488"/>
          </a:xfrm>
        </p:spPr>
        <p:txBody>
          <a:bodyPr/>
          <a:lstStyle/>
          <a:p>
            <a:pPr marL="0" indent="0">
              <a:buNone/>
            </a:pPr>
            <a:r>
              <a:rPr lang="en-US" altLang="en-US" b="1" dirty="0"/>
              <a:t>Section Two </a:t>
            </a:r>
          </a:p>
          <a:p>
            <a:r>
              <a:rPr lang="en-US" altLang="en-US" dirty="0">
                <a:solidFill>
                  <a:srgbClr val="FF0000"/>
                </a:solidFill>
              </a:rPr>
              <a:t>Information provided by referring physician </a:t>
            </a:r>
          </a:p>
          <a:p>
            <a:pPr lvl="1"/>
            <a:r>
              <a:rPr lang="en-US" altLang="en-US" dirty="0"/>
              <a:t>Name and address of referring physician </a:t>
            </a:r>
          </a:p>
          <a:p>
            <a:pPr lvl="1"/>
            <a:r>
              <a:rPr lang="en-US" altLang="en-US" dirty="0"/>
              <a:t>Essential clinical data explaining the reason for the examination </a:t>
            </a:r>
          </a:p>
        </p:txBody>
      </p:sp>
      <p:sp>
        <p:nvSpPr>
          <p:cNvPr id="12" name="Slide Number Placeholder 11"/>
          <p:cNvSpPr>
            <a:spLocks noGrp="1"/>
          </p:cNvSpPr>
          <p:nvPr>
            <p:ph type="sldNum" sz="quarter" idx="11"/>
          </p:nvPr>
        </p:nvSpPr>
        <p:spPr/>
        <p:txBody>
          <a:bodyPr/>
          <a:lstStyle/>
          <a:p>
            <a:fld id="{CFAB7BCF-FF84-427B-8FC0-CAEDD66DC642}" type="slidenum">
              <a:rPr lang="en-US" smtClean="0"/>
              <a:pPr/>
              <a:t>55</a:t>
            </a:fld>
            <a:endParaRPr lang="en-US" dirty="0"/>
          </a:p>
        </p:txBody>
      </p:sp>
      <p:pic>
        <p:nvPicPr>
          <p:cNvPr id="2050" name="Picture 2" descr="\\192.168.7.143\Course\ELSV3\k360_Cury4e\k360_Cury4e_12-Oct-2015\Images\jpg\Chapter01\001001.jpg"/>
          <p:cNvPicPr>
            <a:picLocks noChangeAspect="1" noChangeArrowheads="1"/>
          </p:cNvPicPr>
          <p:nvPr/>
        </p:nvPicPr>
        <p:blipFill>
          <a:blip r:embed="rId3" cstate="print"/>
          <a:srcRect/>
          <a:stretch>
            <a:fillRect/>
          </a:stretch>
        </p:blipFill>
        <p:spPr bwMode="auto">
          <a:xfrm>
            <a:off x="4733106" y="1313541"/>
            <a:ext cx="3668760" cy="4811488"/>
          </a:xfrm>
          <a:prstGeom prst="rect">
            <a:avLst/>
          </a:prstGeom>
          <a:noFill/>
        </p:spPr>
      </p:pic>
    </p:spTree>
    <p:extLst>
      <p:ext uri="{BB962C8B-B14F-4D97-AF65-F5344CB8AC3E}">
        <p14:creationId xmlns:p14="http://schemas.microsoft.com/office/powerpoint/2010/main" val="1297258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dirty="0">
                <a:solidFill>
                  <a:srgbClr val="FF0000"/>
                </a:solidFill>
              </a:rPr>
              <a:t>Ultrasound Request Form </a:t>
            </a:r>
            <a:endParaRPr lang="en-US" altLang="en-US" dirty="0"/>
          </a:p>
        </p:txBody>
      </p:sp>
      <p:sp>
        <p:nvSpPr>
          <p:cNvPr id="15363" name="Rectangle 3"/>
          <p:cNvSpPr>
            <a:spLocks noGrp="1" noChangeArrowheads="1"/>
          </p:cNvSpPr>
          <p:nvPr>
            <p:ph type="body" sz="half" idx="1"/>
          </p:nvPr>
        </p:nvSpPr>
        <p:spPr/>
        <p:txBody>
          <a:bodyPr/>
          <a:lstStyle/>
          <a:p>
            <a:pPr marL="0" indent="0">
              <a:buNone/>
            </a:pPr>
            <a:r>
              <a:rPr lang="en-US" altLang="en-US" b="1" dirty="0"/>
              <a:t>Section Three</a:t>
            </a:r>
          </a:p>
          <a:p>
            <a:r>
              <a:rPr lang="en-US" altLang="en-US" dirty="0"/>
              <a:t>Additional information </a:t>
            </a:r>
          </a:p>
          <a:p>
            <a:pPr lvl="1"/>
            <a:r>
              <a:rPr lang="en-US" altLang="en-US" dirty="0"/>
              <a:t>Patient history </a:t>
            </a:r>
          </a:p>
          <a:p>
            <a:pPr lvl="1"/>
            <a:r>
              <a:rPr lang="en-US" altLang="en-US" dirty="0"/>
              <a:t>Physician signature (to be valid)</a:t>
            </a:r>
          </a:p>
          <a:p>
            <a:pPr lvl="1"/>
            <a:r>
              <a:rPr lang="en-US" altLang="en-US" dirty="0"/>
              <a:t>Area for bar code </a:t>
            </a:r>
          </a:p>
        </p:txBody>
      </p:sp>
      <p:sp>
        <p:nvSpPr>
          <p:cNvPr id="12" name="Slide Number Placeholder 11"/>
          <p:cNvSpPr>
            <a:spLocks noGrp="1"/>
          </p:cNvSpPr>
          <p:nvPr>
            <p:ph type="sldNum" sz="quarter" idx="11"/>
          </p:nvPr>
        </p:nvSpPr>
        <p:spPr/>
        <p:txBody>
          <a:bodyPr/>
          <a:lstStyle/>
          <a:p>
            <a:fld id="{CFAB7BCF-FF84-427B-8FC0-CAEDD66DC642}" type="slidenum">
              <a:rPr lang="en-US" smtClean="0"/>
              <a:pPr/>
              <a:t>56</a:t>
            </a:fld>
            <a:endParaRPr lang="en-US" dirty="0"/>
          </a:p>
        </p:txBody>
      </p:sp>
      <p:pic>
        <p:nvPicPr>
          <p:cNvPr id="3074" name="Picture 2" descr="\\192.168.7.143\Course\ELSV3\k360_Cury4e\k360_Cury4e_12-Oct-2015\Images\jpg\Chapter01\001001.jpg"/>
          <p:cNvPicPr>
            <a:picLocks noChangeAspect="1" noChangeArrowheads="1"/>
          </p:cNvPicPr>
          <p:nvPr/>
        </p:nvPicPr>
        <p:blipFill>
          <a:blip r:embed="rId3" cstate="print"/>
          <a:srcRect/>
          <a:stretch>
            <a:fillRect/>
          </a:stretch>
        </p:blipFill>
        <p:spPr bwMode="auto">
          <a:xfrm>
            <a:off x="4688112" y="1362502"/>
            <a:ext cx="3483430" cy="4568432"/>
          </a:xfrm>
          <a:prstGeom prst="rect">
            <a:avLst/>
          </a:prstGeom>
          <a:noFill/>
        </p:spPr>
      </p:pic>
    </p:spTree>
    <p:extLst>
      <p:ext uri="{BB962C8B-B14F-4D97-AF65-F5344CB8AC3E}">
        <p14:creationId xmlns:p14="http://schemas.microsoft.com/office/powerpoint/2010/main" val="264963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74638"/>
            <a:ext cx="8229600" cy="365125"/>
          </a:xfrm>
        </p:spPr>
        <p:txBody>
          <a:bodyPr>
            <a:normAutofit fontScale="90000"/>
          </a:bodyPr>
          <a:lstStyle/>
          <a:p>
            <a:r>
              <a:rPr lang="en-US" altLang="en-US" dirty="0">
                <a:solidFill>
                  <a:srgbClr val="FF0000"/>
                </a:solidFill>
              </a:rPr>
              <a:t>Ultrasound Request Form </a:t>
            </a:r>
            <a:endParaRPr lang="en-US" altLang="en-US" dirty="0"/>
          </a:p>
        </p:txBody>
      </p:sp>
      <p:sp>
        <p:nvSpPr>
          <p:cNvPr id="16387" name="Rectangle 3"/>
          <p:cNvSpPr>
            <a:spLocks noGrp="1" noChangeArrowheads="1"/>
          </p:cNvSpPr>
          <p:nvPr>
            <p:ph type="body" sz="half" idx="1"/>
          </p:nvPr>
        </p:nvSpPr>
        <p:spPr/>
        <p:txBody>
          <a:bodyPr/>
          <a:lstStyle/>
          <a:p>
            <a:pPr marL="0" indent="0">
              <a:buNone/>
            </a:pPr>
            <a:r>
              <a:rPr lang="en-US" altLang="en-US" b="1" dirty="0"/>
              <a:t>Section Four</a:t>
            </a:r>
          </a:p>
          <a:p>
            <a:r>
              <a:rPr lang="en-US" altLang="en-US" dirty="0"/>
              <a:t>Examination type check-off boxes </a:t>
            </a:r>
          </a:p>
          <a:p>
            <a:r>
              <a:rPr lang="en-US" altLang="en-US" dirty="0"/>
              <a:t>Additional examination information </a:t>
            </a:r>
          </a:p>
          <a:p>
            <a:pPr lvl="1"/>
            <a:r>
              <a:rPr lang="en-US" altLang="en-US" dirty="0"/>
              <a:t>Sonographer name</a:t>
            </a:r>
          </a:p>
          <a:p>
            <a:pPr lvl="1"/>
            <a:r>
              <a:rPr lang="en-US" altLang="en-US" dirty="0"/>
              <a:t>Exam room/location </a:t>
            </a:r>
          </a:p>
          <a:p>
            <a:pPr lvl="1"/>
            <a:r>
              <a:rPr lang="en-US" altLang="en-US" dirty="0"/>
              <a:t>Exam date</a:t>
            </a:r>
          </a:p>
        </p:txBody>
      </p:sp>
      <p:sp>
        <p:nvSpPr>
          <p:cNvPr id="17" name="Slide Number Placeholder 16"/>
          <p:cNvSpPr>
            <a:spLocks noGrp="1"/>
          </p:cNvSpPr>
          <p:nvPr>
            <p:ph type="sldNum" sz="quarter" idx="11"/>
          </p:nvPr>
        </p:nvSpPr>
        <p:spPr/>
        <p:txBody>
          <a:bodyPr/>
          <a:lstStyle/>
          <a:p>
            <a:fld id="{CFAB7BCF-FF84-427B-8FC0-CAEDD66DC642}" type="slidenum">
              <a:rPr lang="en-US" smtClean="0"/>
              <a:pPr/>
              <a:t>57</a:t>
            </a:fld>
            <a:endParaRPr lang="en-US" dirty="0"/>
          </a:p>
        </p:txBody>
      </p:sp>
      <p:pic>
        <p:nvPicPr>
          <p:cNvPr id="4098" name="Picture 2" descr="\\192.168.7.143\Course\ELSV3\k360_Cury4e\k360_Cury4e_12-Oct-2015\Images\jpg\Chapter01\001001.jpg"/>
          <p:cNvPicPr>
            <a:picLocks noChangeAspect="1" noChangeArrowheads="1"/>
          </p:cNvPicPr>
          <p:nvPr/>
        </p:nvPicPr>
        <p:blipFill>
          <a:blip r:embed="rId3" cstate="print"/>
          <a:srcRect/>
          <a:stretch>
            <a:fillRect/>
          </a:stretch>
        </p:blipFill>
        <p:spPr bwMode="auto">
          <a:xfrm>
            <a:off x="4713694" y="1311815"/>
            <a:ext cx="4201706" cy="5409659"/>
          </a:xfrm>
          <a:prstGeom prst="rect">
            <a:avLst/>
          </a:prstGeom>
          <a:noFill/>
        </p:spPr>
      </p:pic>
    </p:spTree>
    <p:extLst>
      <p:ext uri="{BB962C8B-B14F-4D97-AF65-F5344CB8AC3E}">
        <p14:creationId xmlns:p14="http://schemas.microsoft.com/office/powerpoint/2010/main" val="3318431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dirty="0">
                <a:solidFill>
                  <a:srgbClr val="FF0000"/>
                </a:solidFill>
              </a:rPr>
              <a:t>Patient Chart</a:t>
            </a:r>
          </a:p>
        </p:txBody>
      </p:sp>
      <p:sp>
        <p:nvSpPr>
          <p:cNvPr id="17411" name="Rectangle 3"/>
          <p:cNvSpPr>
            <a:spLocks noGrp="1" noChangeArrowheads="1"/>
          </p:cNvSpPr>
          <p:nvPr>
            <p:ph type="body" idx="1"/>
          </p:nvPr>
        </p:nvSpPr>
        <p:spPr/>
        <p:txBody>
          <a:bodyPr/>
          <a:lstStyle/>
          <a:p>
            <a:r>
              <a:rPr lang="en-US" altLang="en-US" sz="2800" b="1" dirty="0">
                <a:latin typeface="Arial" charset="0"/>
                <a:cs typeface="Arial" charset="0"/>
              </a:rPr>
              <a:t>The important items in a patient’s chart for sonographers to review are </a:t>
            </a:r>
            <a:endParaRPr lang="en-US" altLang="en-US" sz="2800" dirty="0"/>
          </a:p>
          <a:p>
            <a:pPr lvl="1"/>
            <a:r>
              <a:rPr lang="en-US" altLang="en-US" dirty="0"/>
              <a:t>Assessment notes;</a:t>
            </a:r>
          </a:p>
          <a:p>
            <a:pPr lvl="1">
              <a:buNone/>
            </a:pPr>
            <a:r>
              <a:rPr lang="en-US" altLang="en-US" dirty="0"/>
              <a:t>   </a:t>
            </a:r>
            <a:r>
              <a:rPr lang="en-US" altLang="en-US" sz="2400" dirty="0">
                <a:latin typeface="Arial" charset="0"/>
                <a:cs typeface="Arial" charset="0"/>
              </a:rPr>
              <a:t>results from the patient’s physical examination, list of their symptoms, and any other notable findings</a:t>
            </a:r>
            <a:r>
              <a:rPr lang="en-US" altLang="en-US" sz="2400" dirty="0"/>
              <a:t>-</a:t>
            </a:r>
          </a:p>
          <a:p>
            <a:pPr lvl="1"/>
            <a:r>
              <a:rPr lang="en-US" altLang="en-US" dirty="0"/>
              <a:t>Laboratory results(normal or abnormal)</a:t>
            </a:r>
          </a:p>
          <a:p>
            <a:pPr lvl="1"/>
            <a:r>
              <a:rPr lang="en-US" altLang="en-US" dirty="0"/>
              <a:t>Reports of previous ultrasound(s) and correlating image modality studies (CT, MRI . . .)</a:t>
            </a:r>
          </a:p>
        </p:txBody>
      </p:sp>
      <p:sp>
        <p:nvSpPr>
          <p:cNvPr id="11" name="Slide Number Placeholder 10"/>
          <p:cNvSpPr>
            <a:spLocks noGrp="1"/>
          </p:cNvSpPr>
          <p:nvPr>
            <p:ph type="sldNum" sz="quarter" idx="11"/>
          </p:nvPr>
        </p:nvSpPr>
        <p:spPr/>
        <p:txBody>
          <a:bodyPr/>
          <a:lstStyle/>
          <a:p>
            <a:fld id="{CFAB7BCF-FF84-427B-8FC0-CAEDD66DC642}" type="slidenum">
              <a:rPr lang="en-US" smtClean="0"/>
              <a:pPr/>
              <a:t>58</a:t>
            </a:fld>
            <a:endParaRPr lang="en-US" dirty="0"/>
          </a:p>
        </p:txBody>
      </p:sp>
    </p:spTree>
    <p:extLst>
      <p:ext uri="{BB962C8B-B14F-4D97-AF65-F5344CB8AC3E}">
        <p14:creationId xmlns:p14="http://schemas.microsoft.com/office/powerpoint/2010/main" val="37414233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dirty="0">
                <a:solidFill>
                  <a:srgbClr val="FF0000"/>
                </a:solidFill>
              </a:rPr>
              <a:t>Brief Medical History </a:t>
            </a:r>
          </a:p>
        </p:txBody>
      </p:sp>
      <p:sp>
        <p:nvSpPr>
          <p:cNvPr id="18435" name="Rectangle 3"/>
          <p:cNvSpPr>
            <a:spLocks noGrp="1" noChangeArrowheads="1"/>
          </p:cNvSpPr>
          <p:nvPr>
            <p:ph type="body" idx="1"/>
          </p:nvPr>
        </p:nvSpPr>
        <p:spPr/>
        <p:txBody>
          <a:bodyPr/>
          <a:lstStyle/>
          <a:p>
            <a:r>
              <a:rPr lang="en-US" altLang="en-US" dirty="0"/>
              <a:t>Common requirement prior to beginning examination: </a:t>
            </a:r>
          </a:p>
          <a:p>
            <a:pPr lvl="1"/>
            <a:r>
              <a:rPr lang="en-US" altLang="en-US" dirty="0"/>
              <a:t> Is your pain constant or does it come and go?</a:t>
            </a:r>
          </a:p>
          <a:p>
            <a:pPr lvl="1"/>
            <a:r>
              <a:rPr lang="en-US" altLang="en-US" dirty="0"/>
              <a:t> How long have you noticed swelling in your leg?</a:t>
            </a:r>
          </a:p>
          <a:p>
            <a:pPr lvl="1"/>
            <a:r>
              <a:rPr lang="en-US" altLang="en-US" dirty="0"/>
              <a:t> Any previous surgeries? </a:t>
            </a:r>
          </a:p>
        </p:txBody>
      </p:sp>
      <p:sp>
        <p:nvSpPr>
          <p:cNvPr id="11" name="Slide Number Placeholder 10"/>
          <p:cNvSpPr>
            <a:spLocks noGrp="1"/>
          </p:cNvSpPr>
          <p:nvPr>
            <p:ph type="sldNum" sz="quarter" idx="11"/>
          </p:nvPr>
        </p:nvSpPr>
        <p:spPr/>
        <p:txBody>
          <a:bodyPr/>
          <a:lstStyle/>
          <a:p>
            <a:fld id="{CFAB7BCF-FF84-427B-8FC0-CAEDD66DC642}" type="slidenum">
              <a:rPr lang="en-US" smtClean="0"/>
              <a:pPr/>
              <a:t>59</a:t>
            </a:fld>
            <a:endParaRPr lang="en-US" dirty="0"/>
          </a:p>
        </p:txBody>
      </p:sp>
    </p:spTree>
    <p:extLst>
      <p:ext uri="{BB962C8B-B14F-4D97-AF65-F5344CB8AC3E}">
        <p14:creationId xmlns:p14="http://schemas.microsoft.com/office/powerpoint/2010/main" val="36738386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Autofit/>
          </a:bodyPr>
          <a:lstStyle/>
          <a:p>
            <a:pPr eaLnBrk="1" hangingPunct="1"/>
            <a:r>
              <a:rPr lang="en-US" altLang="en-US" sz="3600" dirty="0">
                <a:solidFill>
                  <a:srgbClr val="FF0000"/>
                </a:solidFill>
              </a:rPr>
              <a:t>Patient Care During Ultrasound Examination </a:t>
            </a:r>
          </a:p>
        </p:txBody>
      </p:sp>
      <p:sp>
        <p:nvSpPr>
          <p:cNvPr id="55299" name="Rectangle 3"/>
          <p:cNvSpPr>
            <a:spLocks noGrp="1" noChangeArrowheads="1"/>
          </p:cNvSpPr>
          <p:nvPr>
            <p:ph type="body" idx="1"/>
          </p:nvPr>
        </p:nvSpPr>
        <p:spPr/>
        <p:txBody>
          <a:bodyPr/>
          <a:lstStyle/>
          <a:p>
            <a:pPr eaLnBrk="1" hangingPunct="1"/>
            <a:r>
              <a:rPr lang="en-US" altLang="en-US" dirty="0"/>
              <a:t>Universal precautions and isolation policies</a:t>
            </a:r>
          </a:p>
          <a:p>
            <a:pPr eaLnBrk="1" hangingPunct="1"/>
            <a:r>
              <a:rPr lang="en-US" altLang="en-US" dirty="0"/>
              <a:t>Instruct and, if needed, aid the patient in undressing and gowning for the ultrasound exam</a:t>
            </a:r>
            <a:endParaRPr lang="en-US" altLang="en-US" sz="1200" dirty="0"/>
          </a:p>
          <a:p>
            <a:pPr eaLnBrk="1" hangingPunct="1"/>
            <a:r>
              <a:rPr lang="en-US" altLang="en-US" dirty="0"/>
              <a:t>Assist patient onto the examination table from wheel chair or stretcher.</a:t>
            </a:r>
          </a:p>
        </p:txBody>
      </p:sp>
      <p:sp>
        <p:nvSpPr>
          <p:cNvPr id="3" name="Slide Number Placeholder 2"/>
          <p:cNvSpPr>
            <a:spLocks noGrp="1"/>
          </p:cNvSpPr>
          <p:nvPr>
            <p:ph type="sldNum" sz="quarter" idx="11"/>
          </p:nvPr>
        </p:nvSpPr>
        <p:spPr/>
        <p:txBody>
          <a:bodyPr/>
          <a:lstStyle/>
          <a:p>
            <a:fld id="{CFAB7BCF-FF84-427B-8FC0-CAEDD66DC642}" type="slidenum">
              <a:rPr lang="en-US" smtClean="0"/>
              <a:pPr/>
              <a:t>60</a:t>
            </a:fld>
            <a:endParaRPr lang="en-US" dirty="0"/>
          </a:p>
        </p:txBody>
      </p:sp>
    </p:spTree>
    <p:extLst>
      <p:ext uri="{BB962C8B-B14F-4D97-AF65-F5344CB8AC3E}">
        <p14:creationId xmlns:p14="http://schemas.microsoft.com/office/powerpoint/2010/main" val="24901438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fontScale="90000"/>
          </a:bodyPr>
          <a:lstStyle/>
          <a:p>
            <a:r>
              <a:rPr lang="en-US" altLang="en-US" dirty="0">
                <a:solidFill>
                  <a:srgbClr val="FF0000"/>
                </a:solidFill>
              </a:rPr>
              <a:t>Patient Care During Ultrasound Examination (Cont.)</a:t>
            </a:r>
          </a:p>
        </p:txBody>
      </p:sp>
      <p:sp>
        <p:nvSpPr>
          <p:cNvPr id="58371" name="Rectangle 3"/>
          <p:cNvSpPr>
            <a:spLocks noGrp="1" noChangeArrowheads="1"/>
          </p:cNvSpPr>
          <p:nvPr>
            <p:ph type="body" idx="1"/>
          </p:nvPr>
        </p:nvSpPr>
        <p:spPr/>
        <p:txBody>
          <a:bodyPr/>
          <a:lstStyle/>
          <a:p>
            <a:r>
              <a:rPr lang="en-US" altLang="en-US" dirty="0"/>
              <a:t>Be prepared to answer patient questions</a:t>
            </a:r>
          </a:p>
          <a:p>
            <a:r>
              <a:rPr lang="en-US" altLang="en-US" dirty="0"/>
              <a:t>Explain to the patient that the sonographer does not make the diagnoses but provides information to an interpreting physician</a:t>
            </a:r>
          </a:p>
          <a:p>
            <a:r>
              <a:rPr lang="en-US" altLang="en-US" dirty="0"/>
              <a:t>The final result will be sent to the referring physician to explain to the patient. </a:t>
            </a:r>
          </a:p>
        </p:txBody>
      </p:sp>
      <p:sp>
        <p:nvSpPr>
          <p:cNvPr id="3" name="Slide Number Placeholder 2"/>
          <p:cNvSpPr>
            <a:spLocks noGrp="1"/>
          </p:cNvSpPr>
          <p:nvPr>
            <p:ph type="sldNum" sz="quarter" idx="11"/>
          </p:nvPr>
        </p:nvSpPr>
        <p:spPr/>
        <p:txBody>
          <a:bodyPr/>
          <a:lstStyle/>
          <a:p>
            <a:fld id="{CFAB7BCF-FF84-427B-8FC0-CAEDD66DC642}" type="slidenum">
              <a:rPr lang="en-US" smtClean="0"/>
              <a:pPr/>
              <a:t>61</a:t>
            </a:fld>
            <a:endParaRPr lang="en-US" dirty="0"/>
          </a:p>
        </p:txBody>
      </p:sp>
    </p:spTree>
    <p:extLst>
      <p:ext uri="{BB962C8B-B14F-4D97-AF65-F5344CB8AC3E}">
        <p14:creationId xmlns:p14="http://schemas.microsoft.com/office/powerpoint/2010/main" val="21336047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ormAutofit fontScale="90000"/>
          </a:bodyPr>
          <a:lstStyle/>
          <a:p>
            <a:pPr eaLnBrk="1" hangingPunct="1"/>
            <a:r>
              <a:rPr lang="en-US" altLang="en-US" dirty="0">
                <a:solidFill>
                  <a:srgbClr val="FF0000"/>
                </a:solidFill>
              </a:rPr>
              <a:t>Patient Care During Ultrasound Examination </a:t>
            </a:r>
          </a:p>
        </p:txBody>
      </p:sp>
      <p:sp>
        <p:nvSpPr>
          <p:cNvPr id="57347" name="Rectangle 3"/>
          <p:cNvSpPr>
            <a:spLocks noGrp="1" noChangeArrowheads="1"/>
          </p:cNvSpPr>
          <p:nvPr>
            <p:ph type="body" idx="1"/>
          </p:nvPr>
        </p:nvSpPr>
        <p:spPr/>
        <p:txBody>
          <a:bodyPr/>
          <a:lstStyle/>
          <a:p>
            <a:pPr eaLnBrk="1" hangingPunct="1"/>
            <a:r>
              <a:rPr lang="en-US" altLang="en-US" dirty="0"/>
              <a:t>See that the patient is as comfortable as possible</a:t>
            </a:r>
          </a:p>
          <a:p>
            <a:pPr eaLnBrk="1" hangingPunct="1"/>
            <a:r>
              <a:rPr lang="en-US" altLang="en-US" dirty="0"/>
              <a:t>Briefly explain the examination process</a:t>
            </a:r>
          </a:p>
          <a:p>
            <a:pPr lvl="1" eaLnBrk="1" hangingPunct="1"/>
            <a:r>
              <a:rPr lang="en-US" altLang="en-US" dirty="0"/>
              <a:t>A transducer is placed on warm gel and moved in various ways to visualize the area of interest </a:t>
            </a:r>
          </a:p>
          <a:p>
            <a:pPr lvl="1" eaLnBrk="1" hangingPunct="1"/>
            <a:r>
              <a:rPr lang="en-US" altLang="en-US" dirty="0"/>
              <a:t>You may be asked to hold your breath or change your position </a:t>
            </a:r>
          </a:p>
          <a:p>
            <a:pPr lvl="1" eaLnBrk="1" hangingPunct="1"/>
            <a:endParaRPr lang="en-US" altLang="en-US" dirty="0"/>
          </a:p>
        </p:txBody>
      </p:sp>
      <p:sp>
        <p:nvSpPr>
          <p:cNvPr id="3" name="Slide Number Placeholder 2"/>
          <p:cNvSpPr>
            <a:spLocks noGrp="1"/>
          </p:cNvSpPr>
          <p:nvPr>
            <p:ph type="sldNum" sz="quarter" idx="11"/>
          </p:nvPr>
        </p:nvSpPr>
        <p:spPr/>
        <p:txBody>
          <a:bodyPr/>
          <a:lstStyle/>
          <a:p>
            <a:fld id="{CFAB7BCF-FF84-427B-8FC0-CAEDD66DC642}" type="slidenum">
              <a:rPr lang="en-US" smtClean="0"/>
              <a:pPr/>
              <a:t>62</a:t>
            </a:fld>
            <a:endParaRPr lang="en-US" dirty="0"/>
          </a:p>
        </p:txBody>
      </p:sp>
    </p:spTree>
    <p:extLst>
      <p:ext uri="{BB962C8B-B14F-4D97-AF65-F5344CB8AC3E}">
        <p14:creationId xmlns:p14="http://schemas.microsoft.com/office/powerpoint/2010/main" val="1319394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ctrTitle"/>
          </p:nvPr>
        </p:nvSpPr>
        <p:spPr>
          <a:xfrm>
            <a:off x="685800" y="2130425"/>
            <a:ext cx="7772400" cy="1470025"/>
          </a:xfrm>
        </p:spPr>
        <p:txBody>
          <a:bodyPr anchor="ctr"/>
          <a:lstStyle/>
          <a:p>
            <a:pPr eaLnBrk="1" hangingPunct="1"/>
            <a:r>
              <a:rPr lang="en-US" altLang="en-US" sz="4400" dirty="0">
                <a:solidFill>
                  <a:srgbClr val="FF0000"/>
                </a:solidFill>
              </a:rPr>
              <a:t>After </a:t>
            </a:r>
            <a:br>
              <a:rPr lang="en-US" altLang="en-US" sz="4400" dirty="0">
                <a:solidFill>
                  <a:srgbClr val="FF0000"/>
                </a:solidFill>
              </a:rPr>
            </a:br>
            <a:r>
              <a:rPr lang="en-US" altLang="en-US" sz="4400" dirty="0">
                <a:solidFill>
                  <a:srgbClr val="FF0000"/>
                </a:solidFill>
              </a:rPr>
              <a:t>the Examination </a:t>
            </a:r>
          </a:p>
        </p:txBody>
      </p:sp>
      <p:sp>
        <p:nvSpPr>
          <p:cNvPr id="7" name="Slide Number Placeholder 6"/>
          <p:cNvSpPr>
            <a:spLocks noGrp="1"/>
          </p:cNvSpPr>
          <p:nvPr>
            <p:ph type="sldNum" sz="quarter" idx="11"/>
          </p:nvPr>
        </p:nvSpPr>
        <p:spPr/>
        <p:txBody>
          <a:bodyPr/>
          <a:lstStyle/>
          <a:p>
            <a:fld id="{CFAB7BCF-FF84-427B-8FC0-CAEDD66DC642}" type="slidenum">
              <a:rPr lang="en-US" smtClean="0"/>
              <a:pPr/>
              <a:t>63</a:t>
            </a:fld>
            <a:endParaRPr lang="en-US" dirty="0"/>
          </a:p>
        </p:txBody>
      </p:sp>
    </p:spTree>
    <p:extLst>
      <p:ext uri="{BB962C8B-B14F-4D97-AF65-F5344CB8AC3E}">
        <p14:creationId xmlns:p14="http://schemas.microsoft.com/office/powerpoint/2010/main" val="33296897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dirty="0" err="1">
                <a:solidFill>
                  <a:srgbClr val="FF0000"/>
                </a:solidFill>
              </a:rPr>
              <a:t>Sonographer</a:t>
            </a:r>
            <a:r>
              <a:rPr lang="en-US" altLang="en-US" dirty="0">
                <a:solidFill>
                  <a:srgbClr val="FF0000"/>
                </a:solidFill>
              </a:rPr>
              <a:t> Responsibilities</a:t>
            </a:r>
          </a:p>
        </p:txBody>
      </p:sp>
      <p:sp>
        <p:nvSpPr>
          <p:cNvPr id="20483" name="Rectangle 3"/>
          <p:cNvSpPr>
            <a:spLocks noGrp="1" noChangeArrowheads="1"/>
          </p:cNvSpPr>
          <p:nvPr>
            <p:ph type="body" idx="1"/>
          </p:nvPr>
        </p:nvSpPr>
        <p:spPr/>
        <p:txBody>
          <a:bodyPr>
            <a:normAutofit lnSpcReduction="10000"/>
          </a:bodyPr>
          <a:lstStyle/>
          <a:p>
            <a:r>
              <a:rPr lang="en-US" altLang="en-US" dirty="0"/>
              <a:t>Complete an examination worksheet.</a:t>
            </a:r>
          </a:p>
          <a:p>
            <a:r>
              <a:rPr lang="en-US" altLang="en-US" dirty="0">
                <a:latin typeface="Arial" charset="0"/>
                <a:cs typeface="Arial" charset="0"/>
              </a:rPr>
              <a:t>Ultrasound examination data worksheets will vary from institution to institution</a:t>
            </a:r>
            <a:endParaRPr lang="en-US" altLang="en-US" dirty="0"/>
          </a:p>
          <a:p>
            <a:pPr lvl="1"/>
            <a:r>
              <a:rPr lang="en-US" altLang="en-US" dirty="0"/>
              <a:t> Patient’s medical history</a:t>
            </a:r>
          </a:p>
          <a:p>
            <a:pPr lvl="1"/>
            <a:r>
              <a:rPr lang="en-US" altLang="en-US" dirty="0"/>
              <a:t> Clinical symptoms</a:t>
            </a:r>
          </a:p>
          <a:p>
            <a:pPr lvl="1"/>
            <a:r>
              <a:rPr lang="en-US" altLang="en-US" dirty="0"/>
              <a:t> Pertinent laboratory test results</a:t>
            </a:r>
          </a:p>
          <a:p>
            <a:pPr lvl="1"/>
            <a:r>
              <a:rPr lang="en-US" altLang="en-US" dirty="0"/>
              <a:t> Ultrasound findings</a:t>
            </a:r>
          </a:p>
          <a:p>
            <a:r>
              <a:rPr lang="en-US" altLang="en-US" dirty="0"/>
              <a:t>Include any reports from other imaging tests or procedures </a:t>
            </a:r>
          </a:p>
          <a:p>
            <a:pPr lvl="1"/>
            <a:endParaRPr lang="en-US" altLang="en-US" dirty="0"/>
          </a:p>
        </p:txBody>
      </p:sp>
      <p:sp>
        <p:nvSpPr>
          <p:cNvPr id="11" name="Slide Number Placeholder 10"/>
          <p:cNvSpPr>
            <a:spLocks noGrp="1"/>
          </p:cNvSpPr>
          <p:nvPr>
            <p:ph type="sldNum" sz="quarter" idx="11"/>
          </p:nvPr>
        </p:nvSpPr>
        <p:spPr/>
        <p:txBody>
          <a:bodyPr/>
          <a:lstStyle/>
          <a:p>
            <a:fld id="{CFAB7BCF-FF84-427B-8FC0-CAEDD66DC642}" type="slidenum">
              <a:rPr lang="en-US" smtClean="0"/>
              <a:pPr/>
              <a:t>64</a:t>
            </a:fld>
            <a:endParaRPr lang="en-US" dirty="0"/>
          </a:p>
        </p:txBody>
      </p:sp>
    </p:spTree>
    <p:extLst>
      <p:ext uri="{BB962C8B-B14F-4D97-AF65-F5344CB8AC3E}">
        <p14:creationId xmlns:p14="http://schemas.microsoft.com/office/powerpoint/2010/main" val="14503356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pPr eaLnBrk="1" hangingPunct="1"/>
            <a:r>
              <a:rPr lang="en-US" altLang="en-US" dirty="0">
                <a:solidFill>
                  <a:srgbClr val="FF0000"/>
                </a:solidFill>
              </a:rPr>
              <a:t>Sonographer Responsibilities (Cont.)</a:t>
            </a:r>
          </a:p>
        </p:txBody>
      </p:sp>
      <p:sp>
        <p:nvSpPr>
          <p:cNvPr id="21507" name="Rectangle 3"/>
          <p:cNvSpPr>
            <a:spLocks noGrp="1" noChangeArrowheads="1"/>
          </p:cNvSpPr>
          <p:nvPr>
            <p:ph type="body" idx="1"/>
          </p:nvPr>
        </p:nvSpPr>
        <p:spPr/>
        <p:txBody>
          <a:bodyPr/>
          <a:lstStyle/>
          <a:p>
            <a:pPr eaLnBrk="1" hangingPunct="1"/>
            <a:r>
              <a:rPr lang="en-US" altLang="en-US" dirty="0"/>
              <a:t>Provide a written technical observation summary of the ultrasound findings using sonographic terminology</a:t>
            </a:r>
            <a:endParaRPr lang="en-US" altLang="en-US" sz="1200" dirty="0"/>
          </a:p>
          <a:p>
            <a:pPr lvl="1" eaLnBrk="1" hangingPunct="1"/>
            <a:r>
              <a:rPr lang="en-US" altLang="en-US" dirty="0"/>
              <a:t>Permanent part of patient’s chart</a:t>
            </a:r>
            <a:endParaRPr lang="en-US" altLang="en-US" sz="1200" dirty="0"/>
          </a:p>
          <a:p>
            <a:pPr lvl="1" eaLnBrk="1" hangingPunct="1"/>
            <a:r>
              <a:rPr lang="en-US" altLang="en-US" dirty="0"/>
              <a:t>Observations documented in a way as to not be legally compromising </a:t>
            </a:r>
          </a:p>
        </p:txBody>
      </p:sp>
      <p:sp>
        <p:nvSpPr>
          <p:cNvPr id="7" name="Slide Number Placeholder 6"/>
          <p:cNvSpPr>
            <a:spLocks noGrp="1"/>
          </p:cNvSpPr>
          <p:nvPr>
            <p:ph type="sldNum" sz="quarter" idx="11"/>
          </p:nvPr>
        </p:nvSpPr>
        <p:spPr/>
        <p:txBody>
          <a:bodyPr/>
          <a:lstStyle/>
          <a:p>
            <a:fld id="{CFAB7BCF-FF84-427B-8FC0-CAEDD66DC642}" type="slidenum">
              <a:rPr lang="en-US" smtClean="0"/>
              <a:pPr/>
              <a:t>65</a:t>
            </a:fld>
            <a:endParaRPr lang="en-US" dirty="0"/>
          </a:p>
        </p:txBody>
      </p:sp>
    </p:spTree>
    <p:extLst>
      <p:ext uri="{BB962C8B-B14F-4D97-AF65-F5344CB8AC3E}">
        <p14:creationId xmlns:p14="http://schemas.microsoft.com/office/powerpoint/2010/main" val="13009171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dirty="0">
                <a:solidFill>
                  <a:srgbClr val="FF0000"/>
                </a:solidFill>
              </a:rPr>
              <a:t>Technical Observations</a:t>
            </a:r>
          </a:p>
        </p:txBody>
      </p:sp>
      <p:sp>
        <p:nvSpPr>
          <p:cNvPr id="22531" name="Rectangle 3"/>
          <p:cNvSpPr>
            <a:spLocks noGrp="1" noChangeArrowheads="1"/>
          </p:cNvSpPr>
          <p:nvPr>
            <p:ph type="body" idx="1"/>
          </p:nvPr>
        </p:nvSpPr>
        <p:spPr/>
        <p:txBody>
          <a:bodyPr/>
          <a:lstStyle/>
          <a:p>
            <a:r>
              <a:rPr lang="en-US" altLang="en-US" dirty="0"/>
              <a:t>Based on echo pattern and size</a:t>
            </a:r>
          </a:p>
          <a:p>
            <a:r>
              <a:rPr lang="en-US" altLang="en-US" dirty="0"/>
              <a:t>Abnormal findings should include origin or location, number, size, and composition (echo pattern)</a:t>
            </a:r>
          </a:p>
          <a:p>
            <a:r>
              <a:rPr lang="en-US" altLang="en-US" dirty="0" err="1"/>
              <a:t>Sonographer’s</a:t>
            </a:r>
            <a:r>
              <a:rPr lang="en-US" altLang="en-US" dirty="0"/>
              <a:t> should never provide a diagnosis to the patient</a:t>
            </a:r>
          </a:p>
        </p:txBody>
      </p:sp>
      <p:sp>
        <p:nvSpPr>
          <p:cNvPr id="11" name="Slide Number Placeholder 10"/>
          <p:cNvSpPr>
            <a:spLocks noGrp="1"/>
          </p:cNvSpPr>
          <p:nvPr>
            <p:ph type="sldNum" sz="quarter" idx="11"/>
          </p:nvPr>
        </p:nvSpPr>
        <p:spPr/>
        <p:txBody>
          <a:bodyPr/>
          <a:lstStyle/>
          <a:p>
            <a:fld id="{CFAB7BCF-FF84-427B-8FC0-CAEDD66DC642}" type="slidenum">
              <a:rPr lang="en-US" smtClean="0"/>
              <a:pPr/>
              <a:t>66</a:t>
            </a:fld>
            <a:endParaRPr lang="en-US" dirty="0"/>
          </a:p>
        </p:txBody>
      </p:sp>
    </p:spTree>
    <p:extLst>
      <p:ext uri="{BB962C8B-B14F-4D97-AF65-F5344CB8AC3E}">
        <p14:creationId xmlns:p14="http://schemas.microsoft.com/office/powerpoint/2010/main" val="9473163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274638"/>
            <a:ext cx="8229600" cy="639762"/>
          </a:xfrm>
        </p:spPr>
        <p:txBody>
          <a:bodyPr>
            <a:normAutofit fontScale="90000"/>
          </a:bodyPr>
          <a:lstStyle/>
          <a:p>
            <a:r>
              <a:rPr lang="en-US" altLang="en-US" dirty="0">
                <a:solidFill>
                  <a:srgbClr val="FF0000"/>
                </a:solidFill>
              </a:rPr>
              <a:t>Legal Guidelines</a:t>
            </a:r>
          </a:p>
        </p:txBody>
      </p:sp>
      <p:sp>
        <p:nvSpPr>
          <p:cNvPr id="23555" name="Rectangle 3"/>
          <p:cNvSpPr>
            <a:spLocks noGrp="1" noChangeArrowheads="1"/>
          </p:cNvSpPr>
          <p:nvPr>
            <p:ph type="body" idx="1"/>
          </p:nvPr>
        </p:nvSpPr>
        <p:spPr>
          <a:xfrm>
            <a:off x="457200" y="838200"/>
            <a:ext cx="8229600" cy="5745162"/>
          </a:xfrm>
        </p:spPr>
        <p:txBody>
          <a:bodyPr>
            <a:normAutofit/>
          </a:bodyPr>
          <a:lstStyle/>
          <a:p>
            <a:r>
              <a:rPr lang="en-US" altLang="en-US" sz="2800" dirty="0"/>
              <a:t>If a sonographer fails to make an accurate description in written observation summary but demonstrates findings on the images, he or she has performed </a:t>
            </a:r>
            <a:r>
              <a:rPr lang="en-US" altLang="en-US" sz="2800" b="1" dirty="0"/>
              <a:t>within legal guidelines of scope of practice for diagnostic medical sonographers</a:t>
            </a:r>
          </a:p>
          <a:p>
            <a:r>
              <a:rPr lang="en-US" altLang="en-US" sz="2800" dirty="0">
                <a:cs typeface="Arial" charset="0"/>
              </a:rPr>
              <a:t>The final interpretation of the ultrasound examination will always be the responsibility of the physician. By virtue of education, training, and legal parameters, physicians exclusively render diagnoses</a:t>
            </a:r>
            <a:endParaRPr lang="en-US" altLang="en-US" sz="2800" b="1" dirty="0"/>
          </a:p>
        </p:txBody>
      </p:sp>
      <p:sp>
        <p:nvSpPr>
          <p:cNvPr id="11" name="Slide Number Placeholder 10"/>
          <p:cNvSpPr>
            <a:spLocks noGrp="1"/>
          </p:cNvSpPr>
          <p:nvPr>
            <p:ph type="sldNum" sz="quarter" idx="11"/>
          </p:nvPr>
        </p:nvSpPr>
        <p:spPr/>
        <p:txBody>
          <a:bodyPr/>
          <a:lstStyle/>
          <a:p>
            <a:fld id="{CFAB7BCF-FF84-427B-8FC0-CAEDD66DC642}" type="slidenum">
              <a:rPr lang="en-US" smtClean="0"/>
              <a:pPr/>
              <a:t>67</a:t>
            </a:fld>
            <a:endParaRPr lang="en-US" dirty="0"/>
          </a:p>
        </p:txBody>
      </p:sp>
    </p:spTree>
    <p:extLst>
      <p:ext uri="{BB962C8B-B14F-4D97-AF65-F5344CB8AC3E}">
        <p14:creationId xmlns:p14="http://schemas.microsoft.com/office/powerpoint/2010/main" val="20013065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title"/>
          </p:nvPr>
        </p:nvSpPr>
        <p:spPr/>
        <p:txBody>
          <a:bodyPr/>
          <a:lstStyle/>
          <a:p>
            <a:r>
              <a:rPr lang="en-US" altLang="en-US" dirty="0">
                <a:solidFill>
                  <a:srgbClr val="FF0000"/>
                </a:solidFill>
              </a:rPr>
              <a:t>Ultrasound Examination Room</a:t>
            </a:r>
          </a:p>
        </p:txBody>
      </p:sp>
      <p:sp>
        <p:nvSpPr>
          <p:cNvPr id="3" name="Slide Number Placeholder 2"/>
          <p:cNvSpPr>
            <a:spLocks noGrp="1"/>
          </p:cNvSpPr>
          <p:nvPr>
            <p:ph type="sldNum" sz="quarter" idx="11"/>
          </p:nvPr>
        </p:nvSpPr>
        <p:spPr/>
        <p:txBody>
          <a:bodyPr/>
          <a:lstStyle/>
          <a:p>
            <a:fld id="{CFAB7BCF-FF84-427B-8FC0-CAEDD66DC642}" type="slidenum">
              <a:rPr lang="en-US" smtClean="0"/>
              <a:pPr/>
              <a:t>68</a:t>
            </a:fld>
            <a:endParaRPr lang="en-US" dirty="0"/>
          </a:p>
        </p:txBody>
      </p:sp>
      <p:pic>
        <p:nvPicPr>
          <p:cNvPr id="1026" name="Picture 2" descr="\\192.168.7.143\Course\ELSV3\k360_Cury4e\k360_Cury4e_12-Oct-2015\From Client\Images\jpg\Chapter03\003002.jpg"/>
          <p:cNvPicPr>
            <a:picLocks noChangeAspect="1" noChangeArrowheads="1"/>
          </p:cNvPicPr>
          <p:nvPr/>
        </p:nvPicPr>
        <p:blipFill>
          <a:blip r:embed="rId3" cstate="print"/>
          <a:srcRect/>
          <a:stretch>
            <a:fillRect/>
          </a:stretch>
        </p:blipFill>
        <p:spPr bwMode="auto">
          <a:xfrm>
            <a:off x="762000" y="1421258"/>
            <a:ext cx="7620000" cy="4886325"/>
          </a:xfrm>
          <a:prstGeom prst="rect">
            <a:avLst/>
          </a:prstGeom>
          <a:noFill/>
        </p:spPr>
      </p:pic>
    </p:spTree>
    <p:extLst>
      <p:ext uri="{BB962C8B-B14F-4D97-AF65-F5344CB8AC3E}">
        <p14:creationId xmlns:p14="http://schemas.microsoft.com/office/powerpoint/2010/main" val="23498376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fontScale="90000"/>
          </a:bodyPr>
          <a:lstStyle/>
          <a:p>
            <a:r>
              <a:rPr lang="en-US" altLang="en-US" dirty="0">
                <a:solidFill>
                  <a:srgbClr val="FF0000"/>
                </a:solidFill>
              </a:rPr>
              <a:t>Ultrasound Examination Room </a:t>
            </a:r>
            <a:br>
              <a:rPr lang="en-US" altLang="en-US" dirty="0">
                <a:solidFill>
                  <a:srgbClr val="FF0000"/>
                </a:solidFill>
              </a:rPr>
            </a:br>
            <a:r>
              <a:rPr lang="en-US" altLang="en-US" dirty="0">
                <a:solidFill>
                  <a:srgbClr val="FF0000"/>
                </a:solidFill>
              </a:rPr>
              <a:t>Stock Items</a:t>
            </a:r>
          </a:p>
        </p:txBody>
      </p:sp>
      <p:sp>
        <p:nvSpPr>
          <p:cNvPr id="52227" name="Rectangle 3"/>
          <p:cNvSpPr>
            <a:spLocks noGrp="1" noChangeArrowheads="1"/>
          </p:cNvSpPr>
          <p:nvPr>
            <p:ph type="body" idx="1"/>
          </p:nvPr>
        </p:nvSpPr>
        <p:spPr/>
        <p:txBody>
          <a:bodyPr/>
          <a:lstStyle/>
          <a:p>
            <a:r>
              <a:rPr lang="en-US" altLang="en-US"/>
              <a:t>Patient examination gowns</a:t>
            </a:r>
          </a:p>
          <a:p>
            <a:r>
              <a:rPr lang="en-US" altLang="en-US"/>
              <a:t>Paper pillow covers</a:t>
            </a:r>
          </a:p>
          <a:p>
            <a:r>
              <a:rPr lang="en-US" altLang="en-US"/>
              <a:t>Scanning gel (bottles and refill containers)</a:t>
            </a:r>
          </a:p>
          <a:p>
            <a:r>
              <a:rPr lang="en-US" altLang="en-US"/>
              <a:t>Bottle warmers</a:t>
            </a:r>
          </a:p>
          <a:p>
            <a:r>
              <a:rPr lang="en-US" altLang="en-US"/>
              <a:t>Towels and washcloths</a:t>
            </a:r>
          </a:p>
          <a:p>
            <a:r>
              <a:rPr lang="en-US" altLang="en-US"/>
              <a:t>Sheets</a:t>
            </a:r>
          </a:p>
          <a:p>
            <a:r>
              <a:rPr lang="en-US" altLang="en-US"/>
              <a:t>Blankets</a:t>
            </a:r>
          </a:p>
        </p:txBody>
      </p:sp>
      <p:sp>
        <p:nvSpPr>
          <p:cNvPr id="3" name="Slide Number Placeholder 2"/>
          <p:cNvSpPr>
            <a:spLocks noGrp="1"/>
          </p:cNvSpPr>
          <p:nvPr>
            <p:ph type="sldNum" sz="quarter" idx="11"/>
          </p:nvPr>
        </p:nvSpPr>
        <p:spPr/>
        <p:txBody>
          <a:bodyPr/>
          <a:lstStyle/>
          <a:p>
            <a:fld id="{CFAB7BCF-FF84-427B-8FC0-CAEDD66DC642}" type="slidenum">
              <a:rPr lang="en-US" smtClean="0"/>
              <a:pPr/>
              <a:t>69</a:t>
            </a:fld>
            <a:endParaRPr lang="en-US" dirty="0"/>
          </a:p>
        </p:txBody>
      </p:sp>
    </p:spTree>
    <p:extLst>
      <p:ext uri="{BB962C8B-B14F-4D97-AF65-F5344CB8AC3E}">
        <p14:creationId xmlns:p14="http://schemas.microsoft.com/office/powerpoint/2010/main" val="20365066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normAutofit fontScale="90000"/>
          </a:bodyPr>
          <a:lstStyle/>
          <a:p>
            <a:r>
              <a:rPr lang="en-US" altLang="en-US" dirty="0">
                <a:solidFill>
                  <a:srgbClr val="FF0000"/>
                </a:solidFill>
              </a:rPr>
              <a:t>Ultrasound Examination Room </a:t>
            </a:r>
            <a:br>
              <a:rPr lang="en-US" altLang="en-US" dirty="0">
                <a:solidFill>
                  <a:srgbClr val="FF0000"/>
                </a:solidFill>
              </a:rPr>
            </a:br>
            <a:r>
              <a:rPr lang="en-US" altLang="en-US" dirty="0">
                <a:solidFill>
                  <a:srgbClr val="FF0000"/>
                </a:solidFill>
              </a:rPr>
              <a:t>Stock Items (Cont.)</a:t>
            </a:r>
          </a:p>
        </p:txBody>
      </p:sp>
      <p:sp>
        <p:nvSpPr>
          <p:cNvPr id="53251" name="Rectangle 3"/>
          <p:cNvSpPr>
            <a:spLocks noGrp="1" noChangeArrowheads="1"/>
          </p:cNvSpPr>
          <p:nvPr>
            <p:ph type="body" idx="1"/>
          </p:nvPr>
        </p:nvSpPr>
        <p:spPr/>
        <p:txBody>
          <a:bodyPr/>
          <a:lstStyle/>
          <a:p>
            <a:r>
              <a:rPr lang="en-US" altLang="en-US" dirty="0"/>
              <a:t>Examination gloves </a:t>
            </a:r>
          </a:p>
          <a:p>
            <a:r>
              <a:rPr lang="en-US" altLang="en-US" dirty="0"/>
              <a:t>Drapes </a:t>
            </a:r>
          </a:p>
          <a:p>
            <a:r>
              <a:rPr lang="en-US" altLang="en-US" dirty="0"/>
              <a:t>Emesis basins </a:t>
            </a:r>
          </a:p>
          <a:p>
            <a:r>
              <a:rPr lang="en-US" altLang="en-US" dirty="0"/>
              <a:t>Alcohol </a:t>
            </a:r>
          </a:p>
          <a:p>
            <a:r>
              <a:rPr lang="en-US" altLang="en-US" dirty="0"/>
              <a:t>Covered waste containers </a:t>
            </a:r>
          </a:p>
          <a:p>
            <a:r>
              <a:rPr lang="en-US" altLang="en-US" dirty="0"/>
              <a:t>Covered dirty laundry bin </a:t>
            </a:r>
          </a:p>
          <a:p>
            <a:r>
              <a:rPr lang="en-US" altLang="en-US" dirty="0"/>
              <a:t>Sharps container </a:t>
            </a:r>
          </a:p>
        </p:txBody>
      </p:sp>
      <p:sp>
        <p:nvSpPr>
          <p:cNvPr id="3" name="Slide Number Placeholder 2"/>
          <p:cNvSpPr>
            <a:spLocks noGrp="1"/>
          </p:cNvSpPr>
          <p:nvPr>
            <p:ph type="sldNum" sz="quarter" idx="11"/>
          </p:nvPr>
        </p:nvSpPr>
        <p:spPr/>
        <p:txBody>
          <a:bodyPr/>
          <a:lstStyle/>
          <a:p>
            <a:fld id="{CFAB7BCF-FF84-427B-8FC0-CAEDD66DC642}" type="slidenum">
              <a:rPr lang="en-US" smtClean="0"/>
              <a:pPr/>
              <a:t>70</a:t>
            </a:fld>
            <a:endParaRPr lang="en-US" dirty="0"/>
          </a:p>
        </p:txBody>
      </p:sp>
    </p:spTree>
    <p:extLst>
      <p:ext uri="{BB962C8B-B14F-4D97-AF65-F5344CB8AC3E}">
        <p14:creationId xmlns:p14="http://schemas.microsoft.com/office/powerpoint/2010/main" val="39761821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normAutofit fontScale="90000"/>
          </a:bodyPr>
          <a:lstStyle/>
          <a:p>
            <a:pPr eaLnBrk="1" hangingPunct="1"/>
            <a:r>
              <a:rPr lang="en-US" altLang="en-US" sz="3600" dirty="0">
                <a:solidFill>
                  <a:srgbClr val="FF0000"/>
                </a:solidFill>
              </a:rPr>
              <a:t>Ultrasound Examination Room </a:t>
            </a:r>
            <a:br>
              <a:rPr lang="en-US" altLang="en-US" sz="3600" dirty="0">
                <a:solidFill>
                  <a:srgbClr val="FF0000"/>
                </a:solidFill>
              </a:rPr>
            </a:br>
            <a:r>
              <a:rPr lang="en-US" altLang="en-US" sz="3600" dirty="0">
                <a:solidFill>
                  <a:srgbClr val="FF0000"/>
                </a:solidFill>
              </a:rPr>
              <a:t>Stock Items (Cont.)</a:t>
            </a:r>
          </a:p>
        </p:txBody>
      </p:sp>
      <p:sp>
        <p:nvSpPr>
          <p:cNvPr id="54275" name="Rectangle 3"/>
          <p:cNvSpPr>
            <a:spLocks noGrp="1" noChangeArrowheads="1"/>
          </p:cNvSpPr>
          <p:nvPr>
            <p:ph type="body" idx="1"/>
          </p:nvPr>
        </p:nvSpPr>
        <p:spPr/>
        <p:txBody>
          <a:bodyPr/>
          <a:lstStyle/>
          <a:p>
            <a:pPr eaLnBrk="1" hangingPunct="1"/>
            <a:r>
              <a:rPr lang="en-US" altLang="en-US" dirty="0"/>
              <a:t>Hand sanitizer</a:t>
            </a:r>
            <a:endParaRPr lang="en-US" altLang="en-US" sz="1200" dirty="0"/>
          </a:p>
          <a:p>
            <a:pPr eaLnBrk="1" hangingPunct="1"/>
            <a:r>
              <a:rPr lang="en-US" altLang="en-US" dirty="0"/>
              <a:t>Angled sponges (for patient positioning)</a:t>
            </a:r>
            <a:endParaRPr lang="en-US" altLang="en-US" sz="1200" dirty="0"/>
          </a:p>
          <a:p>
            <a:pPr eaLnBrk="1" hangingPunct="1"/>
            <a:r>
              <a:rPr lang="en-US" altLang="en-US" dirty="0"/>
              <a:t>Prepared sterile ultrasound procedure packages</a:t>
            </a:r>
            <a:endParaRPr lang="en-US" altLang="en-US" sz="1200" dirty="0"/>
          </a:p>
          <a:p>
            <a:pPr eaLnBrk="1" hangingPunct="1"/>
            <a:r>
              <a:rPr lang="en-US" altLang="en-US" dirty="0"/>
              <a:t>Variety of needles, syringes, and tubing </a:t>
            </a:r>
          </a:p>
        </p:txBody>
      </p:sp>
      <p:sp>
        <p:nvSpPr>
          <p:cNvPr id="3" name="Slide Number Placeholder 2"/>
          <p:cNvSpPr>
            <a:spLocks noGrp="1"/>
          </p:cNvSpPr>
          <p:nvPr>
            <p:ph type="sldNum" sz="quarter" idx="11"/>
          </p:nvPr>
        </p:nvSpPr>
        <p:spPr/>
        <p:txBody>
          <a:bodyPr/>
          <a:lstStyle/>
          <a:p>
            <a:fld id="{CFAB7BCF-FF84-427B-8FC0-CAEDD66DC642}" type="slidenum">
              <a:rPr lang="en-US" smtClean="0"/>
              <a:pPr/>
              <a:t>71</a:t>
            </a:fld>
            <a:endParaRPr lang="en-US" dirty="0"/>
          </a:p>
        </p:txBody>
      </p:sp>
    </p:spTree>
    <p:extLst>
      <p:ext uri="{BB962C8B-B14F-4D97-AF65-F5344CB8AC3E}">
        <p14:creationId xmlns:p14="http://schemas.microsoft.com/office/powerpoint/2010/main" val="1363678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4929</TotalTime>
  <Words>4561</Words>
  <Application>Microsoft Macintosh PowerPoint</Application>
  <PresentationFormat>On-screen Show (4:3)</PresentationFormat>
  <Paragraphs>452</Paragraphs>
  <Slides>71</Slides>
  <Notes>26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71</vt:i4>
      </vt:variant>
    </vt:vector>
  </HeadingPairs>
  <TitlesOfParts>
    <vt:vector size="80" baseType="lpstr">
      <vt:lpstr>MS PGothic</vt:lpstr>
      <vt:lpstr>MS PGothic</vt:lpstr>
      <vt:lpstr>Aptos</vt:lpstr>
      <vt:lpstr>Aptos Display</vt:lpstr>
      <vt:lpstr>Arial</vt:lpstr>
      <vt:lpstr>Calibri</vt:lpstr>
      <vt:lpstr>Tahoma</vt:lpstr>
      <vt:lpstr>Office Theme</vt:lpstr>
      <vt:lpstr>1_Office Theme</vt:lpstr>
      <vt:lpstr>DMS Profession</vt:lpstr>
      <vt:lpstr>DEFINITION OF THE PROFESSION</vt:lpstr>
      <vt:lpstr>DEFINITION OF THE PROFESSION</vt:lpstr>
      <vt:lpstr>ULTRASOUND</vt:lpstr>
      <vt:lpstr>Terminology</vt:lpstr>
      <vt:lpstr>PowerPoint Presentation</vt:lpstr>
      <vt:lpstr>Sonography/sonologist</vt:lpstr>
      <vt:lpstr>PowerPoint Presentation</vt:lpstr>
      <vt:lpstr>Advantages of Ultrasound</vt:lpstr>
      <vt:lpstr>Role of the Sonographer</vt:lpstr>
      <vt:lpstr>How Is the Sonographer Different from Other Allied Health Professionals?</vt:lpstr>
      <vt:lpstr>How Is the Sonographer Different from Other Allied Health Professionals?</vt:lpstr>
      <vt:lpstr>Qualities of a Sonographer</vt:lpstr>
      <vt:lpstr>Qualities of a Sonographer</vt:lpstr>
      <vt:lpstr>Advantages and Disadvantages of a Sonography Career</vt:lpstr>
      <vt:lpstr>Advantages and Disadvantages of a Sonography Career</vt:lpstr>
      <vt:lpstr>Advantages and Disadvantages of a Sonography Career</vt:lpstr>
      <vt:lpstr>Job Market in Sonography</vt:lpstr>
      <vt:lpstr>Art of Scanning</vt:lpstr>
      <vt:lpstr>Responsibilities of the Sonographer</vt:lpstr>
      <vt:lpstr>Responsibilities of the Sonographer</vt:lpstr>
      <vt:lpstr>Obligations of the sonographer</vt:lpstr>
      <vt:lpstr>           Research Statistics and Design for                   Professional Development</vt:lpstr>
      <vt:lpstr>                            Breaking It Down</vt:lpstr>
      <vt:lpstr>                       Why They Matter Together  </vt:lpstr>
      <vt:lpstr>Sonography  example of research statistics and design </vt:lpstr>
      <vt:lpstr>Why Research, Statistics, and Design Matter</vt:lpstr>
      <vt:lpstr>Core Resources for Sonographic Research &amp; Design</vt:lpstr>
      <vt:lpstr>                 Practical Development Steps</vt:lpstr>
      <vt:lpstr>STANDARD – PATIENT INFORMATION ASSESSMENT AND EVALUATION:</vt:lpstr>
      <vt:lpstr>STANDARD – PATIENT INFORMATION ASSESSMENT AND EVALUATION:</vt:lpstr>
      <vt:lpstr>    SDMS Scope of Practice and Clinical Standards           for the Diagnostic Medical Sonographer </vt:lpstr>
      <vt:lpstr>STANDARD - QUALITY OF CARE:</vt:lpstr>
      <vt:lpstr>STANDARD – ANALYSIS AND DETERMINATION OF PROTOCOL FOR THE DIAGNOSTIC EXAMINATION</vt:lpstr>
      <vt:lpstr>STANDARD – ANALYSIS AND DETERMINATIO OF PROTOCOL FOR THE DIAGNOSTIC EXAMINATION</vt:lpstr>
      <vt:lpstr>STANDARD – IMPLEMENTATION OF THE PROTOCOL:</vt:lpstr>
      <vt:lpstr>STANDARD – IMPLEMENTATION OF THE PROTOCOL:</vt:lpstr>
      <vt:lpstr>STANDARD – IMPLEMENTATION OF THE PROTOCOL: Continued</vt:lpstr>
      <vt:lpstr>STANDARD – EVALUATION OF THE DIAGNOSTIC EXAMINATION RESULTS:</vt:lpstr>
      <vt:lpstr>STANDARD – IMPLEMENT QUALITY IMPROVEMENT PROGRAMS:</vt:lpstr>
      <vt:lpstr>STANDARD – SELF-ASSESSMENT:</vt:lpstr>
      <vt:lpstr>STANDARD – EDUCATION:</vt:lpstr>
      <vt:lpstr>Principle I:</vt:lpstr>
      <vt:lpstr>Principle I:</vt:lpstr>
      <vt:lpstr>Principle II:</vt:lpstr>
      <vt:lpstr>Principle II:</vt:lpstr>
      <vt:lpstr>Principle III</vt:lpstr>
      <vt:lpstr>SDMS Code of Ethics for the Profession of Diagnostic Medical Sonography -</vt:lpstr>
      <vt:lpstr>Guiding ethical principles of medical ethics</vt:lpstr>
      <vt:lpstr>STANDARD – ETHICS:</vt:lpstr>
      <vt:lpstr>STANDARD – COLLABORATION:</vt:lpstr>
      <vt:lpstr>PowerPoint Presentation</vt:lpstr>
      <vt:lpstr>Documents for  Ultrasound Studies</vt:lpstr>
      <vt:lpstr>Ultrasound Request Form</vt:lpstr>
      <vt:lpstr>Ultrasound Request Form </vt:lpstr>
      <vt:lpstr>Ultrasound Request Form </vt:lpstr>
      <vt:lpstr>Ultrasound Request Form </vt:lpstr>
      <vt:lpstr>Patient Chart</vt:lpstr>
      <vt:lpstr>Brief Medical History </vt:lpstr>
      <vt:lpstr>Patient Care During Ultrasound Examination </vt:lpstr>
      <vt:lpstr>Patient Care During Ultrasound Examination (Cont.)</vt:lpstr>
      <vt:lpstr>Patient Care During Ultrasound Examination </vt:lpstr>
      <vt:lpstr>After  the Examination </vt:lpstr>
      <vt:lpstr>Sonographer Responsibilities</vt:lpstr>
      <vt:lpstr>Sonographer Responsibilities (Cont.)</vt:lpstr>
      <vt:lpstr>Technical Observations</vt:lpstr>
      <vt:lpstr>Legal Guidelines</vt:lpstr>
      <vt:lpstr>Ultrasound Examination Room</vt:lpstr>
      <vt:lpstr>Ultrasound Examination Room  Stock Items</vt:lpstr>
      <vt:lpstr>Ultrasound Examination Room  Stock Items (Cont.)</vt:lpstr>
      <vt:lpstr>Ultrasound Examination Room  Stock Items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Care Techniques day by day power point</dc:title>
  <dc:creator>User</dc:creator>
  <dc:description>Sonography/sonologist</dc:description>
  <cp:lastModifiedBy>Madeline Frenson</cp:lastModifiedBy>
  <cp:revision>118</cp:revision>
  <dcterms:created xsi:type="dcterms:W3CDTF">2017-11-08T23:12:37Z</dcterms:created>
  <dcterms:modified xsi:type="dcterms:W3CDTF">2025-11-18T19:09:43Z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
    <vt:lpwstr>Patient Care Techniques day by day power point</vt:lpwstr>
  </property>
  <property fmtid="{D5CDD505-2E9C-101B-9397-08002B2CF9AE}" pid="3" name="SlideDescription">
    <vt:lpwstr>Sonography/sonologist</vt:lpwstr>
  </property>
</Properties>
</file>